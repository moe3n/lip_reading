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Homophone</c:v>
                </c:pt>
              </c:strCache>
            </c:strRef>
          </c:tx>
          <c:spPr>
            <a:solidFill>
              <a:srgbClr val="065A82"/>
            </a:solidFill>
            <a:effectLst/>
          </c:spPr>
          <c:invertIfNegative val="0"/>
          <c:dLbls>
            <c:numFmt formatCode="#,##0" sourceLinked="0"/>
            <c:txPr>
              <a:bodyPr/>
              <a:lstStyle/>
              <a:p>
                <a:pPr>
                  <a:defRPr b="0" i="0" strike="noStrike" sz="1200" u="none">
                    <a:solidFill>
                      <a:srgbClr val="1B2733"/>
                    </a:solidFill>
                    <a:latin typeface="Calibri"/>
                  </a:defRPr>
                </a:pPr>
              </a:p>
            </c:txPr>
            <c:showLegendKey val="0"/>
            <c:showVal val="1"/>
            <c:showCatName val="0"/>
            <c:showSerName val="0"/>
            <c:showPercent val="0"/>
            <c:showBubbleSize val="0"/>
            <c:showLeaderLines val="0"/>
          </c:dLbls>
          <c:cat>
            <c:multiLvlStrRef>
              <c:f>Sheet1!$A$2:$A$3</c:f>
              <c:multiLvlStrCache>
                <c:ptCount val="2"/>
                <c:lvl>
                  <c:pt idx="0">
                    <c:v>WER ↓</c:v>
                  </c:pt>
                  <c:pt idx="1">
                    <c:v>Exact Match ↑</c:v>
                  </c:pt>
                </c:lvl>
              </c:multiLvlStrCache>
            </c:multiLvlStrRef>
          </c:cat>
          <c:val>
            <c:numRef>
              <c:f>Sheet1!$B$2:$B$3</c:f>
              <c:numCache>
                <c:formatCode>General</c:formatCode>
                <c:ptCount val="2"/>
                <c:pt idx="0">
                  <c:v>9.32</c:v>
                </c:pt>
                <c:pt idx="1">
                  <c:v>64.67</c:v>
                </c:pt>
              </c:numCache>
            </c:numRef>
          </c:val>
        </c:ser>
        <c:ser>
          <c:idx val="1"/>
          <c:order val="1"/>
          <c:tx>
            <c:strRef>
              <c:f>Sheet1!$C$1</c:f>
              <c:strCache>
                <c:ptCount val="1"/>
                <c:pt idx="0">
                  <c:v>Non-homophone</c:v>
                </c:pt>
              </c:strCache>
            </c:strRef>
          </c:tx>
          <c:spPr>
            <a:solidFill>
              <a:srgbClr val="2E8BA6"/>
            </a:solidFill>
            <a:effectLst/>
          </c:spPr>
          <c:invertIfNegative val="0"/>
          <c:dLbls>
            <c:numFmt formatCode="#,##0" sourceLinked="0"/>
            <c:txPr>
              <a:bodyPr/>
              <a:lstStyle/>
              <a:p>
                <a:pPr>
                  <a:defRPr b="0" i="0" strike="noStrike" sz="1200" u="none">
                    <a:solidFill>
                      <a:srgbClr val="1B2733"/>
                    </a:solidFill>
                    <a:latin typeface="Calibri"/>
                  </a:defRPr>
                </a:pPr>
              </a:p>
            </c:txPr>
            <c:showLegendKey val="0"/>
            <c:showVal val="1"/>
            <c:showCatName val="0"/>
            <c:showSerName val="0"/>
            <c:showPercent val="0"/>
            <c:showBubbleSize val="0"/>
            <c:showLeaderLines val="0"/>
          </c:dLbls>
          <c:cat>
            <c:multiLvlStrRef>
              <c:f>Sheet1!$A$2:$A$3</c:f>
              <c:multiLvlStrCache>
                <c:ptCount val="2"/>
                <c:lvl>
                  <c:pt idx="0">
                    <c:v>WER ↓</c:v>
                  </c:pt>
                  <c:pt idx="1">
                    <c:v>Exact Match ↑</c:v>
                  </c:pt>
                </c:lvl>
              </c:multiLvlStrCache>
            </c:multiLvlStrRef>
          </c:cat>
          <c:val>
            <c:numRef>
              <c:f>Sheet1!$C$2:$C$3</c:f>
              <c:numCache>
                <c:formatCode>General</c:formatCode>
                <c:ptCount val="2"/>
                <c:pt idx="0">
                  <c:v>10.78</c:v>
                </c:pt>
                <c:pt idx="1">
                  <c:v>68.24</c:v>
                </c:pt>
              </c:numCache>
            </c:numRef>
          </c:val>
        </c:ser>
        <c:dLbls>
          <c:numFmt formatCode="#,##0" sourceLinked="0"/>
          <c:txPr>
            <a:bodyPr/>
            <a:lstStyle/>
            <a:p>
              <a:pPr>
                <a:defRPr b="0" i="0" strike="noStrike" sz="1200" u="none">
                  <a:solidFill>
                    <a:srgbClr val="1B27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5A6B78"/>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A6B78"/>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1B2733"/>
              </a:solidFill>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 frame: a Llama-3.2-3B model fine-tuned with QLoRA turns phoneme strings into English sentences. Results are strong, and the homophone gap, which is the central question, comes out small and inconsistent. Then walk the deck and be candid about the caveats before they come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asking which to prioritise first: the honest test set or the contrastive ablation. Both are ready to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E45"/>
        </a:solidFill>
      </p:bgPr>
    </p:bg>
    <p:spTree>
      <p:nvGrpSpPr>
        <p:cNvPr id="1" name=""/>
        <p:cNvGrpSpPr/>
        <p:nvPr/>
      </p:nvGrpSpPr>
      <p:grpSpPr>
        <a:xfrm>
          <a:off x="0" y="0"/>
          <a:ext cx="0" cy="0"/>
          <a:chOff x="0" y="0"/>
          <a:chExt cx="0" cy="0"/>
        </a:xfrm>
      </p:grpSpPr>
      <p:sp>
        <p:nvSpPr>
          <p:cNvPr id="2" name="Text 0"/>
          <p:cNvSpPr/>
          <p:nvPr/>
        </p:nvSpPr>
        <p:spPr>
          <a:xfrm>
            <a:off x="640080" y="1371600"/>
            <a:ext cx="9144000" cy="365760"/>
          </a:xfrm>
          <a:prstGeom prst="rect">
            <a:avLst/>
          </a:prstGeom>
          <a:noFill/>
          <a:ln/>
        </p:spPr>
        <p:txBody>
          <a:bodyPr wrap="square" rtlCol="0" anchor="ctr"/>
          <a:lstStyle/>
          <a:p>
            <a:pPr indent="0" marL="0">
              <a:buNone/>
            </a:pPr>
            <a:r>
              <a:rPr lang="en-US" sz="1400" b="1" spc="300" kern="0" dirty="0">
                <a:solidFill>
                  <a:srgbClr val="9FC5D8"/>
                </a:solidFill>
                <a:latin typeface="Calibri" pitchFamily="34" charset="0"/>
                <a:ea typeface="Calibri" pitchFamily="34" charset="-122"/>
                <a:cs typeface="Calibri" pitchFamily="34" charset="-120"/>
              </a:rPr>
              <a:t>PROJECT UPDATE · JULY 2026</a:t>
            </a:r>
            <a:endParaRPr lang="en-US" sz="1400" dirty="0"/>
          </a:p>
        </p:txBody>
      </p:sp>
      <p:sp>
        <p:nvSpPr>
          <p:cNvPr id="3" name="Text 1"/>
          <p:cNvSpPr/>
          <p:nvPr/>
        </p:nvSpPr>
        <p:spPr>
          <a:xfrm>
            <a:off x="640080" y="1874520"/>
            <a:ext cx="10972800" cy="822960"/>
          </a:xfrm>
          <a:prstGeom prst="rect">
            <a:avLst/>
          </a:prstGeom>
          <a:noFill/>
          <a:ln/>
        </p:spPr>
        <p:txBody>
          <a:bodyPr wrap="square"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Phoneme → Text Decoding</a:t>
            </a:r>
            <a:endParaRPr lang="en-US" sz="4600" dirty="0"/>
          </a:p>
        </p:txBody>
      </p:sp>
      <p:sp>
        <p:nvSpPr>
          <p:cNvPr id="4" name="Text 2"/>
          <p:cNvSpPr/>
          <p:nvPr/>
        </p:nvSpPr>
        <p:spPr>
          <a:xfrm>
            <a:off x="640080" y="2788920"/>
            <a:ext cx="10972800" cy="457200"/>
          </a:xfrm>
          <a:prstGeom prst="rect">
            <a:avLst/>
          </a:prstGeom>
          <a:noFill/>
          <a:ln/>
        </p:spPr>
        <p:txBody>
          <a:bodyPr wrap="square" rtlCol="0" anchor="ctr"/>
          <a:lstStyle/>
          <a:p>
            <a:pPr indent="0" marL="0">
              <a:buNone/>
            </a:pPr>
            <a:r>
              <a:rPr lang="en-US" sz="2000" dirty="0">
                <a:solidFill>
                  <a:srgbClr val="CFE3ED"/>
                </a:solidFill>
                <a:latin typeface="Calibri" pitchFamily="34" charset="0"/>
                <a:ea typeface="Calibri" pitchFamily="34" charset="-122"/>
                <a:cs typeface="Calibri" pitchFamily="34" charset="-120"/>
              </a:rPr>
              <a:t>Homophone-aware P2T for lip-reading on the LRS2 corpus</a:t>
            </a:r>
            <a:endParaRPr lang="en-US" sz="2000" dirty="0"/>
          </a:p>
        </p:txBody>
      </p:sp>
      <p:sp>
        <p:nvSpPr>
          <p:cNvPr id="5" name="Shape 3"/>
          <p:cNvSpPr/>
          <p:nvPr/>
        </p:nvSpPr>
        <p:spPr>
          <a:xfrm>
            <a:off x="640080" y="3840480"/>
            <a:ext cx="3291840" cy="1005840"/>
          </a:xfrm>
          <a:prstGeom prst="roundRect">
            <a:avLst>
              <a:gd name="adj" fmla="val 7273"/>
            </a:avLst>
          </a:prstGeom>
          <a:solidFill>
            <a:srgbClr val="12405C"/>
          </a:solidFill>
          <a:ln w="12700">
            <a:solidFill>
              <a:srgbClr val="1C5473"/>
            </a:solidFill>
            <a:prstDash val="solid"/>
          </a:ln>
        </p:spPr>
      </p:sp>
      <p:sp>
        <p:nvSpPr>
          <p:cNvPr id="6" name="Text 4"/>
          <p:cNvSpPr/>
          <p:nvPr/>
        </p:nvSpPr>
        <p:spPr>
          <a:xfrm>
            <a:off x="868680" y="4005072"/>
            <a:ext cx="2834640" cy="274320"/>
          </a:xfrm>
          <a:prstGeom prst="rect">
            <a:avLst/>
          </a:prstGeom>
          <a:noFill/>
          <a:ln/>
        </p:spPr>
        <p:txBody>
          <a:bodyPr wrap="square" rtlCol="0" anchor="ctr"/>
          <a:lstStyle/>
          <a:p>
            <a:pPr indent="0" marL="0">
              <a:buNone/>
            </a:pPr>
            <a:r>
              <a:rPr lang="en-US" sz="1100" b="1" spc="100" kern="0" dirty="0">
                <a:solidFill>
                  <a:srgbClr val="8FB8CC"/>
                </a:solidFill>
                <a:latin typeface="Calibri" pitchFamily="34" charset="0"/>
                <a:ea typeface="Calibri" pitchFamily="34" charset="-122"/>
                <a:cs typeface="Calibri" pitchFamily="34" charset="-120"/>
              </a:rPr>
              <a:t>MODEL</a:t>
            </a:r>
            <a:endParaRPr lang="en-US" sz="1100" dirty="0"/>
          </a:p>
        </p:txBody>
      </p:sp>
      <p:sp>
        <p:nvSpPr>
          <p:cNvPr id="7" name="Text 5"/>
          <p:cNvSpPr/>
          <p:nvPr/>
        </p:nvSpPr>
        <p:spPr>
          <a:xfrm>
            <a:off x="868680" y="4279392"/>
            <a:ext cx="2926080" cy="45720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Llama-3.2-3B · QLoRA</a:t>
            </a:r>
            <a:endParaRPr lang="en-US" sz="1500" dirty="0"/>
          </a:p>
        </p:txBody>
      </p:sp>
      <p:sp>
        <p:nvSpPr>
          <p:cNvPr id="8" name="Shape 6"/>
          <p:cNvSpPr/>
          <p:nvPr/>
        </p:nvSpPr>
        <p:spPr>
          <a:xfrm>
            <a:off x="4297680" y="3840480"/>
            <a:ext cx="3291840" cy="1005840"/>
          </a:xfrm>
          <a:prstGeom prst="roundRect">
            <a:avLst>
              <a:gd name="adj" fmla="val 7273"/>
            </a:avLst>
          </a:prstGeom>
          <a:solidFill>
            <a:srgbClr val="12405C"/>
          </a:solidFill>
          <a:ln w="12700">
            <a:solidFill>
              <a:srgbClr val="1C5473"/>
            </a:solidFill>
            <a:prstDash val="solid"/>
          </a:ln>
        </p:spPr>
      </p:sp>
      <p:sp>
        <p:nvSpPr>
          <p:cNvPr id="9" name="Text 7"/>
          <p:cNvSpPr/>
          <p:nvPr/>
        </p:nvSpPr>
        <p:spPr>
          <a:xfrm>
            <a:off x="4526280" y="4005072"/>
            <a:ext cx="2834640" cy="274320"/>
          </a:xfrm>
          <a:prstGeom prst="rect">
            <a:avLst/>
          </a:prstGeom>
          <a:noFill/>
          <a:ln/>
        </p:spPr>
        <p:txBody>
          <a:bodyPr wrap="square" rtlCol="0" anchor="ctr"/>
          <a:lstStyle/>
          <a:p>
            <a:pPr indent="0" marL="0">
              <a:buNone/>
            </a:pPr>
            <a:r>
              <a:rPr lang="en-US" sz="1100" b="1" spc="100" kern="0" dirty="0">
                <a:solidFill>
                  <a:srgbClr val="8FB8CC"/>
                </a:solidFill>
                <a:latin typeface="Calibri" pitchFamily="34" charset="0"/>
                <a:ea typeface="Calibri" pitchFamily="34" charset="-122"/>
                <a:cs typeface="Calibri" pitchFamily="34" charset="-120"/>
              </a:rPr>
              <a:t>CORPUS</a:t>
            </a:r>
            <a:endParaRPr lang="en-US" sz="1100" dirty="0"/>
          </a:p>
        </p:txBody>
      </p:sp>
      <p:sp>
        <p:nvSpPr>
          <p:cNvPr id="10" name="Text 8"/>
          <p:cNvSpPr/>
          <p:nvPr/>
        </p:nvSpPr>
        <p:spPr>
          <a:xfrm>
            <a:off x="4526280" y="4279392"/>
            <a:ext cx="2926080" cy="45720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LRS2 · 48,164 pairs</a:t>
            </a:r>
            <a:endParaRPr lang="en-US" sz="1500" dirty="0"/>
          </a:p>
        </p:txBody>
      </p:sp>
      <p:sp>
        <p:nvSpPr>
          <p:cNvPr id="11" name="Shape 9"/>
          <p:cNvSpPr/>
          <p:nvPr/>
        </p:nvSpPr>
        <p:spPr>
          <a:xfrm>
            <a:off x="7955280" y="3840480"/>
            <a:ext cx="3291840" cy="1005840"/>
          </a:xfrm>
          <a:prstGeom prst="roundRect">
            <a:avLst>
              <a:gd name="adj" fmla="val 7273"/>
            </a:avLst>
          </a:prstGeom>
          <a:solidFill>
            <a:srgbClr val="12405C"/>
          </a:solidFill>
          <a:ln w="12700">
            <a:solidFill>
              <a:srgbClr val="1C5473"/>
            </a:solidFill>
            <a:prstDash val="solid"/>
          </a:ln>
        </p:spPr>
      </p:sp>
      <p:sp>
        <p:nvSpPr>
          <p:cNvPr id="12" name="Text 10"/>
          <p:cNvSpPr/>
          <p:nvPr/>
        </p:nvSpPr>
        <p:spPr>
          <a:xfrm>
            <a:off x="8183880" y="4005072"/>
            <a:ext cx="2834640" cy="274320"/>
          </a:xfrm>
          <a:prstGeom prst="rect">
            <a:avLst/>
          </a:prstGeom>
          <a:noFill/>
          <a:ln/>
        </p:spPr>
        <p:txBody>
          <a:bodyPr wrap="square" rtlCol="0" anchor="ctr"/>
          <a:lstStyle/>
          <a:p>
            <a:pPr indent="0" marL="0">
              <a:buNone/>
            </a:pPr>
            <a:r>
              <a:rPr lang="en-US" sz="1100" b="1" spc="100" kern="0" dirty="0">
                <a:solidFill>
                  <a:srgbClr val="8FB8CC"/>
                </a:solidFill>
                <a:latin typeface="Calibri" pitchFamily="34" charset="0"/>
                <a:ea typeface="Calibri" pitchFamily="34" charset="-122"/>
                <a:cs typeface="Calibri" pitchFamily="34" charset="-120"/>
              </a:rPr>
              <a:t>EVAL</a:t>
            </a:r>
            <a:endParaRPr lang="en-US" sz="1100" dirty="0"/>
          </a:p>
        </p:txBody>
      </p:sp>
      <p:sp>
        <p:nvSpPr>
          <p:cNvPr id="13" name="Text 11"/>
          <p:cNvSpPr/>
          <p:nvPr/>
        </p:nvSpPr>
        <p:spPr>
          <a:xfrm>
            <a:off x="8183880" y="4279392"/>
            <a:ext cx="2926080" cy="45720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9,633 sentences</a:t>
            </a:r>
            <a:endParaRPr lang="en-US" sz="1500" dirty="0"/>
          </a:p>
        </p:txBody>
      </p:sp>
      <p:sp>
        <p:nvSpPr>
          <p:cNvPr id="14" name="Text 12"/>
          <p:cNvSpPr/>
          <p:nvPr/>
        </p:nvSpPr>
        <p:spPr>
          <a:xfrm>
            <a:off x="640080" y="6126480"/>
            <a:ext cx="10972800" cy="365760"/>
          </a:xfrm>
          <a:prstGeom prst="rect">
            <a:avLst/>
          </a:prstGeom>
          <a:noFill/>
          <a:ln/>
        </p:spPr>
        <p:txBody>
          <a:bodyPr wrap="square" rtlCol="0" anchor="ctr"/>
          <a:lstStyle/>
          <a:p>
            <a:pPr indent="0" marL="0">
              <a:buNone/>
            </a:pPr>
            <a:r>
              <a:rPr lang="en-US" sz="1200" dirty="0">
                <a:solidFill>
                  <a:srgbClr val="7FA6BA"/>
                </a:solidFill>
                <a:latin typeface="Calibri" pitchFamily="34" charset="0"/>
                <a:ea typeface="Calibri" pitchFamily="34" charset="-122"/>
                <a:cs typeface="Calibri" pitchFamily="34" charset="-120"/>
              </a:rPr>
              <a:t>Prepared for the supervisor meeting. Figures from the full-corpus run logged 27 June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PROGRESS SINCE LAST UPDATE</a:t>
            </a:r>
            <a:endParaRPr lang="en-US" sz="1200" dirty="0"/>
          </a:p>
        </p:txBody>
      </p:sp>
      <p:sp>
        <p:nvSpPr>
          <p:cNvPr id="3" name="Text 1"/>
          <p:cNvSpPr/>
          <p:nvPr/>
        </p:nvSpPr>
        <p:spPr>
          <a:xfrm>
            <a:off x="548640" y="658368"/>
            <a:ext cx="11064240" cy="640080"/>
          </a:xfrm>
          <a:prstGeom prst="rect">
            <a:avLst/>
          </a:prstGeom>
          <a:noFill/>
          <a:ln/>
        </p:spPr>
        <p:txBody>
          <a:bodyPr wrap="square" rtlCol="0" anchor="ctr"/>
          <a:lstStyle/>
          <a:p>
            <a:pPr indent="0" marL="0">
              <a:buNone/>
            </a:pPr>
            <a:r>
              <a:rPr lang="en-US" sz="3000" b="1" dirty="0">
                <a:solidFill>
                  <a:srgbClr val="065A82"/>
                </a:solidFill>
                <a:latin typeface="Cambria" pitchFamily="34" charset="0"/>
                <a:ea typeface="Cambria" pitchFamily="34" charset="-122"/>
                <a:cs typeface="Cambria" pitchFamily="34" charset="-120"/>
              </a:rPr>
              <a:t>Work completed</a:t>
            </a:r>
            <a:endParaRPr lang="en-US" sz="3000" dirty="0"/>
          </a:p>
        </p:txBody>
      </p:sp>
      <p:sp>
        <p:nvSpPr>
          <p:cNvPr id="4" name="Shape 2"/>
          <p:cNvSpPr/>
          <p:nvPr/>
        </p:nvSpPr>
        <p:spPr>
          <a:xfrm>
            <a:off x="548640" y="1600200"/>
            <a:ext cx="11064240" cy="1024128"/>
          </a:xfrm>
          <a:prstGeom prst="roundRect">
            <a:avLst>
              <a:gd name="adj" fmla="val 5357"/>
            </a:avLst>
          </a:prstGeom>
          <a:solidFill>
            <a:srgbClr val="EAF3F7"/>
          </a:solidFill>
          <a:ln/>
          <a:effectLst>
            <a:outerShdw sx="100000" sy="100000" kx="0" ky="0" algn="bl" rotWithShape="0" blurRad="88900" dist="25400" dir="5400000">
              <a:srgbClr val="000000">
                <a:alpha val="12000"/>
              </a:srgbClr>
            </a:outerShdw>
          </a:effectLst>
        </p:spPr>
      </p:sp>
      <p:sp>
        <p:nvSpPr>
          <p:cNvPr id="5" name="Shape 3"/>
          <p:cNvSpPr/>
          <p:nvPr/>
        </p:nvSpPr>
        <p:spPr>
          <a:xfrm>
            <a:off x="777240" y="1865376"/>
            <a:ext cx="502920" cy="502920"/>
          </a:xfrm>
          <a:prstGeom prst="ellipse">
            <a:avLst/>
          </a:prstGeom>
          <a:solidFill>
            <a:srgbClr val="065A82"/>
          </a:solidFill>
          <a:ln/>
        </p:spPr>
      </p:sp>
      <p:sp>
        <p:nvSpPr>
          <p:cNvPr id="6" name="Text 4"/>
          <p:cNvSpPr/>
          <p:nvPr/>
        </p:nvSpPr>
        <p:spPr>
          <a:xfrm>
            <a:off x="777240" y="1865376"/>
            <a:ext cx="502920" cy="50292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p:nvPr/>
        </p:nvSpPr>
        <p:spPr>
          <a:xfrm>
            <a:off x="1508760" y="1746504"/>
            <a:ext cx="9875520" cy="365760"/>
          </a:xfrm>
          <a:prstGeom prst="rect">
            <a:avLst/>
          </a:prstGeom>
          <a:noFill/>
          <a:ln/>
        </p:spPr>
        <p:txBody>
          <a:bodyPr wrap="square" rtlCol="0" anchor="ctr"/>
          <a:lstStyle/>
          <a:p>
            <a:pPr indent="0" marL="0">
              <a:buNone/>
            </a:pPr>
            <a:r>
              <a:rPr lang="en-US" sz="1700" b="1" dirty="0">
                <a:solidFill>
                  <a:srgbClr val="065A82"/>
                </a:solidFill>
                <a:latin typeface="Calibri" pitchFamily="34" charset="0"/>
                <a:ea typeface="Calibri" pitchFamily="34" charset="-122"/>
                <a:cs typeface="Calibri" pitchFamily="34" charset="-120"/>
              </a:rPr>
              <a:t>Full P2T pipeline</a:t>
            </a:r>
            <a:endParaRPr lang="en-US" sz="1700" dirty="0"/>
          </a:p>
        </p:txBody>
      </p:sp>
      <p:sp>
        <p:nvSpPr>
          <p:cNvPr id="8" name="Text 6"/>
          <p:cNvSpPr/>
          <p:nvPr/>
        </p:nvSpPr>
        <p:spPr>
          <a:xfrm>
            <a:off x="1508760" y="2103120"/>
            <a:ext cx="9875520" cy="457200"/>
          </a:xfrm>
          <a:prstGeom prst="rect">
            <a:avLst/>
          </a:prstGeom>
          <a:noFill/>
          <a:ln/>
        </p:spPr>
        <p:txBody>
          <a:bodyPr wrap="square" rtlCol="0" anchor="ctr"/>
          <a:lstStyle/>
          <a:p>
            <a:pPr indent="0" marL="0">
              <a:buNone/>
            </a:pPr>
            <a:r>
              <a:rPr lang="en-US" sz="1300" dirty="0">
                <a:solidFill>
                  <a:srgbClr val="1B2733"/>
                </a:solidFill>
                <a:latin typeface="Calibri" pitchFamily="34" charset="0"/>
                <a:ea typeface="Calibri" pitchFamily="34" charset="-122"/>
                <a:cs typeface="Calibri" pitchFamily="34" charset="-120"/>
              </a:rPr>
              <a:t>Grapheme-to-phoneme data prep, a QLoRA training loop, and a stratified evaluation harness (WER, CER, BLEU-4, exact match).</a:t>
            </a:r>
            <a:endParaRPr lang="en-US" sz="1300" dirty="0"/>
          </a:p>
        </p:txBody>
      </p:sp>
      <p:sp>
        <p:nvSpPr>
          <p:cNvPr id="9" name="Shape 7"/>
          <p:cNvSpPr/>
          <p:nvPr/>
        </p:nvSpPr>
        <p:spPr>
          <a:xfrm>
            <a:off x="548640" y="2770632"/>
            <a:ext cx="11064240" cy="1024128"/>
          </a:xfrm>
          <a:prstGeom prst="roundRect">
            <a:avLst>
              <a:gd name="adj" fmla="val 5357"/>
            </a:avLst>
          </a:prstGeom>
          <a:solidFill>
            <a:srgbClr val="EAF3F7"/>
          </a:solidFill>
          <a:ln/>
          <a:effectLst>
            <a:outerShdw sx="100000" sy="100000" kx="0" ky="0" algn="bl" rotWithShape="0" blurRad="88900" dist="25400" dir="5400000">
              <a:srgbClr val="000000">
                <a:alpha val="12000"/>
              </a:srgbClr>
            </a:outerShdw>
          </a:effectLst>
        </p:spPr>
      </p:sp>
      <p:sp>
        <p:nvSpPr>
          <p:cNvPr id="10" name="Shape 8"/>
          <p:cNvSpPr/>
          <p:nvPr/>
        </p:nvSpPr>
        <p:spPr>
          <a:xfrm>
            <a:off x="777240" y="3035808"/>
            <a:ext cx="502920" cy="502920"/>
          </a:xfrm>
          <a:prstGeom prst="ellipse">
            <a:avLst/>
          </a:prstGeom>
          <a:solidFill>
            <a:srgbClr val="065A82"/>
          </a:solidFill>
          <a:ln/>
        </p:spPr>
      </p:sp>
      <p:sp>
        <p:nvSpPr>
          <p:cNvPr id="11" name="Text 9"/>
          <p:cNvSpPr/>
          <p:nvPr/>
        </p:nvSpPr>
        <p:spPr>
          <a:xfrm>
            <a:off x="777240" y="3035808"/>
            <a:ext cx="502920" cy="50292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2" name="Text 10"/>
          <p:cNvSpPr/>
          <p:nvPr/>
        </p:nvSpPr>
        <p:spPr>
          <a:xfrm>
            <a:off x="1508760" y="2916936"/>
            <a:ext cx="9875520" cy="365760"/>
          </a:xfrm>
          <a:prstGeom prst="rect">
            <a:avLst/>
          </a:prstGeom>
          <a:noFill/>
          <a:ln/>
        </p:spPr>
        <p:txBody>
          <a:bodyPr wrap="square" rtlCol="0" anchor="ctr"/>
          <a:lstStyle/>
          <a:p>
            <a:pPr indent="0" marL="0">
              <a:buNone/>
            </a:pPr>
            <a:r>
              <a:rPr lang="en-US" sz="1700" b="1" dirty="0">
                <a:solidFill>
                  <a:srgbClr val="065A82"/>
                </a:solidFill>
                <a:latin typeface="Calibri" pitchFamily="34" charset="0"/>
                <a:ea typeface="Calibri" pitchFamily="34" charset="-122"/>
                <a:cs typeface="Calibri" pitchFamily="34" charset="-120"/>
              </a:rPr>
              <a:t>Full-corpus training</a:t>
            </a:r>
            <a:endParaRPr lang="en-US" sz="1700" dirty="0"/>
          </a:p>
        </p:txBody>
      </p:sp>
      <p:sp>
        <p:nvSpPr>
          <p:cNvPr id="13" name="Text 11"/>
          <p:cNvSpPr/>
          <p:nvPr/>
        </p:nvSpPr>
        <p:spPr>
          <a:xfrm>
            <a:off x="1508760" y="3273552"/>
            <a:ext cx="9875520" cy="457200"/>
          </a:xfrm>
          <a:prstGeom prst="rect">
            <a:avLst/>
          </a:prstGeom>
          <a:noFill/>
          <a:ln/>
        </p:spPr>
        <p:txBody>
          <a:bodyPr wrap="square" rtlCol="0" anchor="ctr"/>
          <a:lstStyle/>
          <a:p>
            <a:pPr indent="0" marL="0">
              <a:buNone/>
            </a:pPr>
            <a:r>
              <a:rPr lang="en-US" sz="1300" dirty="0">
                <a:solidFill>
                  <a:srgbClr val="1B2733"/>
                </a:solidFill>
                <a:latin typeface="Calibri" pitchFamily="34" charset="0"/>
                <a:ea typeface="Calibri" pitchFamily="34" charset="-122"/>
                <a:cs typeface="Calibri" pitchFamily="34" charset="-120"/>
              </a:rPr>
              <a:t>Trained on all 48,164 LRS2 phoneme-sentence pairs using a random 80/20 split (seed 42).</a:t>
            </a:r>
            <a:endParaRPr lang="en-US" sz="1300" dirty="0"/>
          </a:p>
        </p:txBody>
      </p:sp>
      <p:sp>
        <p:nvSpPr>
          <p:cNvPr id="14" name="Shape 12"/>
          <p:cNvSpPr/>
          <p:nvPr/>
        </p:nvSpPr>
        <p:spPr>
          <a:xfrm>
            <a:off x="548640" y="3941064"/>
            <a:ext cx="11064240" cy="1024128"/>
          </a:xfrm>
          <a:prstGeom prst="roundRect">
            <a:avLst>
              <a:gd name="adj" fmla="val 5357"/>
            </a:avLst>
          </a:prstGeom>
          <a:solidFill>
            <a:srgbClr val="EAF3F7"/>
          </a:solidFill>
          <a:ln/>
          <a:effectLst>
            <a:outerShdw sx="100000" sy="100000" kx="0" ky="0" algn="bl" rotWithShape="0" blurRad="88900" dist="25400" dir="5400000">
              <a:srgbClr val="000000">
                <a:alpha val="12000"/>
              </a:srgbClr>
            </a:outerShdw>
          </a:effectLst>
        </p:spPr>
      </p:sp>
      <p:sp>
        <p:nvSpPr>
          <p:cNvPr id="15" name="Shape 13"/>
          <p:cNvSpPr/>
          <p:nvPr/>
        </p:nvSpPr>
        <p:spPr>
          <a:xfrm>
            <a:off x="777240" y="4206240"/>
            <a:ext cx="502920" cy="502920"/>
          </a:xfrm>
          <a:prstGeom prst="ellipse">
            <a:avLst/>
          </a:prstGeom>
          <a:solidFill>
            <a:srgbClr val="065A82"/>
          </a:solidFill>
          <a:ln/>
        </p:spPr>
      </p:sp>
      <p:sp>
        <p:nvSpPr>
          <p:cNvPr id="16" name="Text 14"/>
          <p:cNvSpPr/>
          <p:nvPr/>
        </p:nvSpPr>
        <p:spPr>
          <a:xfrm>
            <a:off x="777240" y="4206240"/>
            <a:ext cx="502920" cy="50292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7" name="Text 15"/>
          <p:cNvSpPr/>
          <p:nvPr/>
        </p:nvSpPr>
        <p:spPr>
          <a:xfrm>
            <a:off x="1508760" y="4087368"/>
            <a:ext cx="9875520" cy="365760"/>
          </a:xfrm>
          <a:prstGeom prst="rect">
            <a:avLst/>
          </a:prstGeom>
          <a:noFill/>
          <a:ln/>
        </p:spPr>
        <p:txBody>
          <a:bodyPr wrap="square" rtlCol="0" anchor="ctr"/>
          <a:lstStyle/>
          <a:p>
            <a:pPr indent="0" marL="0">
              <a:buNone/>
            </a:pPr>
            <a:r>
              <a:rPr lang="en-US" sz="1700" b="1" dirty="0">
                <a:solidFill>
                  <a:srgbClr val="065A82"/>
                </a:solidFill>
                <a:latin typeface="Calibri" pitchFamily="34" charset="0"/>
                <a:ea typeface="Calibri" pitchFamily="34" charset="-122"/>
                <a:cs typeface="Calibri" pitchFamily="34" charset="-120"/>
              </a:rPr>
              <a:t>Contrastive hard negatives</a:t>
            </a:r>
            <a:endParaRPr lang="en-US" sz="1700" dirty="0"/>
          </a:p>
        </p:txBody>
      </p:sp>
      <p:sp>
        <p:nvSpPr>
          <p:cNvPr id="18" name="Text 16"/>
          <p:cNvSpPr/>
          <p:nvPr/>
        </p:nvSpPr>
        <p:spPr>
          <a:xfrm>
            <a:off x="1508760" y="4443984"/>
            <a:ext cx="9875520" cy="457200"/>
          </a:xfrm>
          <a:prstGeom prst="rect">
            <a:avLst/>
          </a:prstGeom>
          <a:noFill/>
          <a:ln/>
        </p:spPr>
        <p:txBody>
          <a:bodyPr wrap="square" rtlCol="0" anchor="ctr"/>
          <a:lstStyle/>
          <a:p>
            <a:pPr indent="0" marL="0">
              <a:buNone/>
            </a:pPr>
            <a:r>
              <a:rPr lang="en-US" sz="1300" dirty="0">
                <a:solidFill>
                  <a:srgbClr val="1B2733"/>
                </a:solidFill>
                <a:latin typeface="Calibri" pitchFamily="34" charset="0"/>
                <a:ea typeface="Calibri" pitchFamily="34" charset="-122"/>
                <a:cs typeface="Calibri" pitchFamily="34" charset="-120"/>
              </a:rPr>
              <a:t>A contrastive objective on homophone examples, aimed at disambiguation.</a:t>
            </a:r>
            <a:endParaRPr lang="en-US" sz="1300" dirty="0"/>
          </a:p>
        </p:txBody>
      </p:sp>
      <p:sp>
        <p:nvSpPr>
          <p:cNvPr id="19" name="Shape 17"/>
          <p:cNvSpPr/>
          <p:nvPr/>
        </p:nvSpPr>
        <p:spPr>
          <a:xfrm>
            <a:off x="548640" y="5111496"/>
            <a:ext cx="11064240" cy="1024128"/>
          </a:xfrm>
          <a:prstGeom prst="roundRect">
            <a:avLst>
              <a:gd name="adj" fmla="val 5357"/>
            </a:avLst>
          </a:prstGeom>
          <a:solidFill>
            <a:srgbClr val="EAF3F7"/>
          </a:solidFill>
          <a:ln/>
          <a:effectLst>
            <a:outerShdw sx="100000" sy="100000" kx="0" ky="0" algn="bl" rotWithShape="0" blurRad="88900" dist="25400" dir="5400000">
              <a:srgbClr val="000000">
                <a:alpha val="12000"/>
              </a:srgbClr>
            </a:outerShdw>
          </a:effectLst>
        </p:spPr>
      </p:sp>
      <p:sp>
        <p:nvSpPr>
          <p:cNvPr id="20" name="Shape 18"/>
          <p:cNvSpPr/>
          <p:nvPr/>
        </p:nvSpPr>
        <p:spPr>
          <a:xfrm>
            <a:off x="777240" y="5376672"/>
            <a:ext cx="502920" cy="502920"/>
          </a:xfrm>
          <a:prstGeom prst="ellipse">
            <a:avLst/>
          </a:prstGeom>
          <a:solidFill>
            <a:srgbClr val="065A82"/>
          </a:solidFill>
          <a:ln/>
        </p:spPr>
      </p:sp>
      <p:sp>
        <p:nvSpPr>
          <p:cNvPr id="21" name="Text 19"/>
          <p:cNvSpPr/>
          <p:nvPr/>
        </p:nvSpPr>
        <p:spPr>
          <a:xfrm>
            <a:off x="777240" y="5376672"/>
            <a:ext cx="502920" cy="50292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2" name="Text 20"/>
          <p:cNvSpPr/>
          <p:nvPr/>
        </p:nvSpPr>
        <p:spPr>
          <a:xfrm>
            <a:off x="1508760" y="5257800"/>
            <a:ext cx="9875520" cy="365760"/>
          </a:xfrm>
          <a:prstGeom prst="rect">
            <a:avLst/>
          </a:prstGeom>
          <a:noFill/>
          <a:ln/>
        </p:spPr>
        <p:txBody>
          <a:bodyPr wrap="square" rtlCol="0" anchor="ctr"/>
          <a:lstStyle/>
          <a:p>
            <a:pPr indent="0" marL="0">
              <a:buNone/>
            </a:pPr>
            <a:r>
              <a:rPr lang="en-US" sz="1700" b="1" dirty="0">
                <a:solidFill>
                  <a:srgbClr val="065A82"/>
                </a:solidFill>
                <a:latin typeface="Calibri" pitchFamily="34" charset="0"/>
                <a:ea typeface="Calibri" pitchFamily="34" charset="-122"/>
                <a:cs typeface="Calibri" pitchFamily="34" charset="-120"/>
              </a:rPr>
              <a:t>Zero-shot baseline</a:t>
            </a:r>
            <a:endParaRPr lang="en-US" sz="1700" dirty="0"/>
          </a:p>
        </p:txBody>
      </p:sp>
      <p:sp>
        <p:nvSpPr>
          <p:cNvPr id="23" name="Text 21"/>
          <p:cNvSpPr/>
          <p:nvPr/>
        </p:nvSpPr>
        <p:spPr>
          <a:xfrm>
            <a:off x="1508760" y="5614416"/>
            <a:ext cx="9875520" cy="457200"/>
          </a:xfrm>
          <a:prstGeom prst="rect">
            <a:avLst/>
          </a:prstGeom>
          <a:noFill/>
          <a:ln/>
        </p:spPr>
        <p:txBody>
          <a:bodyPr wrap="square" rtlCol="0" anchor="ctr"/>
          <a:lstStyle/>
          <a:p>
            <a:pPr indent="0" marL="0">
              <a:buNone/>
            </a:pPr>
            <a:r>
              <a:rPr lang="en-US" sz="1300" dirty="0">
                <a:solidFill>
                  <a:srgbClr val="1B2733"/>
                </a:solidFill>
                <a:latin typeface="Calibri" pitchFamily="34" charset="0"/>
                <a:ea typeface="Calibri" pitchFamily="34" charset="-122"/>
                <a:cs typeface="Calibri" pitchFamily="34" charset="-120"/>
              </a:rPr>
              <a:t>An untuned baseline (about 280% WER) that confirms the task needs fine-tuning.</a:t>
            </a:r>
            <a:endParaRPr lang="en-US" sz="1300" dirty="0"/>
          </a:p>
        </p:txBody>
      </p:sp>
      <p:sp>
        <p:nvSpPr>
          <p:cNvPr id="24" name="Text 22"/>
          <p:cNvSpPr/>
          <p:nvPr/>
        </p:nvSpPr>
        <p:spPr>
          <a:xfrm>
            <a:off x="457200" y="6446520"/>
            <a:ext cx="8229600" cy="274320"/>
          </a:xfrm>
          <a:prstGeom prst="rect">
            <a:avLst/>
          </a:prstGeom>
          <a:noFill/>
          <a:ln/>
        </p:spPr>
        <p:txBody>
          <a:bodyPr wrap="square" rtlCol="0" anchor="ctr"/>
          <a:lstStyle/>
          <a:p>
            <a:pPr indent="0" marL="0">
              <a:buNone/>
            </a:pPr>
            <a:r>
              <a:rPr lang="en-US" sz="800" dirty="0">
                <a:solidFill>
                  <a:srgbClr val="5A6B78"/>
                </a:solidFill>
                <a:latin typeface="Calibri" pitchFamily="34" charset="0"/>
                <a:ea typeface="Calibri" pitchFamily="34" charset="-122"/>
                <a:cs typeface="Calibri" pitchFamily="34" charset="-120"/>
              </a:rPr>
              <a:t>P2T Decoder · Project update · 8 July 2026</a:t>
            </a:r>
            <a:endParaRPr lang="en-US" sz="800" dirty="0"/>
          </a:p>
        </p:txBody>
      </p:sp>
      <p:sp>
        <p:nvSpPr>
          <p:cNvPr id="25" name="Text 23"/>
          <p:cNvSpPr/>
          <p:nvPr/>
        </p:nvSpPr>
        <p:spPr>
          <a:xfrm>
            <a:off x="11338560" y="6446520"/>
            <a:ext cx="457200" cy="274320"/>
          </a:xfrm>
          <a:prstGeom prst="rect">
            <a:avLst/>
          </a:prstGeom>
          <a:noFill/>
          <a:ln/>
        </p:spPr>
        <p:txBody>
          <a:bodyPr wrap="square" rtlCol="0" anchor="ctr"/>
          <a:lstStyle/>
          <a:p>
            <a:pPr algn="r" indent="0" marL="0">
              <a:buNone/>
            </a:pPr>
            <a:r>
              <a:rPr lang="en-US" sz="800" dirty="0">
                <a:solidFill>
                  <a:srgbClr val="5A6B78"/>
                </a:solidFill>
                <a:latin typeface="Calibri" pitchFamily="34" charset="0"/>
                <a:ea typeface="Calibri" pitchFamily="34" charset="-122"/>
                <a:cs typeface="Calibri"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RESULTS · EVALUATION SET (N = 9,633)</a:t>
            </a:r>
            <a:endParaRPr lang="en-US" sz="1200" dirty="0"/>
          </a:p>
        </p:txBody>
      </p:sp>
      <p:sp>
        <p:nvSpPr>
          <p:cNvPr id="3" name="Text 1"/>
          <p:cNvSpPr/>
          <p:nvPr/>
        </p:nvSpPr>
        <p:spPr>
          <a:xfrm>
            <a:off x="548640" y="658368"/>
            <a:ext cx="11064240" cy="640080"/>
          </a:xfrm>
          <a:prstGeom prst="rect">
            <a:avLst/>
          </a:prstGeom>
          <a:noFill/>
          <a:ln/>
        </p:spPr>
        <p:txBody>
          <a:bodyPr wrap="square" rtlCol="0" anchor="ctr"/>
          <a:lstStyle/>
          <a:p>
            <a:pPr indent="0" marL="0">
              <a:buNone/>
            </a:pPr>
            <a:r>
              <a:rPr lang="en-US" sz="3000" b="1" dirty="0">
                <a:solidFill>
                  <a:srgbClr val="065A82"/>
                </a:solidFill>
                <a:latin typeface="Cambria" pitchFamily="34" charset="0"/>
                <a:ea typeface="Cambria" pitchFamily="34" charset="-122"/>
                <a:cs typeface="Cambria" pitchFamily="34" charset="-120"/>
              </a:rPr>
              <a:t>The decoder reads phonemes cleanly</a:t>
            </a:r>
            <a:endParaRPr lang="en-US" sz="3000" dirty="0"/>
          </a:p>
        </p:txBody>
      </p:sp>
      <p:sp>
        <p:nvSpPr>
          <p:cNvPr id="4" name="Shape 2"/>
          <p:cNvSpPr/>
          <p:nvPr/>
        </p:nvSpPr>
        <p:spPr>
          <a:xfrm>
            <a:off x="548640" y="1554480"/>
            <a:ext cx="2606040" cy="1371600"/>
          </a:xfrm>
          <a:prstGeom prst="roundRect">
            <a:avLst>
              <a:gd name="adj" fmla="val 4667"/>
            </a:avLst>
          </a:prstGeom>
          <a:solidFill>
            <a:srgbClr val="065A82"/>
          </a:solidFill>
          <a:ln/>
          <a:effectLst>
            <a:outerShdw sx="100000" sy="100000" kx="0" ky="0" algn="bl" rotWithShape="0" blurRad="88900" dist="25400" dir="5400000">
              <a:srgbClr val="000000">
                <a:alpha val="12000"/>
              </a:srgbClr>
            </a:outerShdw>
          </a:effectLst>
        </p:spPr>
      </p:sp>
      <p:sp>
        <p:nvSpPr>
          <p:cNvPr id="5" name="Text 3"/>
          <p:cNvSpPr/>
          <p:nvPr/>
        </p:nvSpPr>
        <p:spPr>
          <a:xfrm>
            <a:off x="548640" y="1691640"/>
            <a:ext cx="2606040" cy="685800"/>
          </a:xfrm>
          <a:prstGeom prst="rect">
            <a:avLst/>
          </a:prstGeom>
          <a:noFill/>
          <a:ln/>
        </p:spPr>
        <p:txBody>
          <a:bodyPr wrap="square"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9.55%</a:t>
            </a:r>
            <a:endParaRPr lang="en-US" sz="3400" dirty="0"/>
          </a:p>
        </p:txBody>
      </p:sp>
      <p:sp>
        <p:nvSpPr>
          <p:cNvPr id="6" name="Text 4"/>
          <p:cNvSpPr/>
          <p:nvPr/>
        </p:nvSpPr>
        <p:spPr>
          <a:xfrm>
            <a:off x="548640" y="2395728"/>
            <a:ext cx="2606040" cy="365760"/>
          </a:xfrm>
          <a:prstGeom prst="rect">
            <a:avLst/>
          </a:prstGeom>
          <a:noFill/>
          <a:ln/>
        </p:spPr>
        <p:txBody>
          <a:bodyPr wrap="square" rtlCol="0" anchor="ctr"/>
          <a:lstStyle/>
          <a:p>
            <a:pPr algn="ctr" indent="0" marL="0">
              <a:buNone/>
            </a:pPr>
            <a:r>
              <a:rPr lang="en-US" sz="1200" dirty="0">
                <a:solidFill>
                  <a:srgbClr val="E4F0F5"/>
                </a:solidFill>
                <a:latin typeface="Calibri" pitchFamily="34" charset="0"/>
                <a:ea typeface="Calibri" pitchFamily="34" charset="-122"/>
                <a:cs typeface="Calibri" pitchFamily="34" charset="-120"/>
              </a:rPr>
              <a:t>Word Error Rate ↓</a:t>
            </a:r>
            <a:endParaRPr lang="en-US" sz="1200" dirty="0"/>
          </a:p>
        </p:txBody>
      </p:sp>
      <p:sp>
        <p:nvSpPr>
          <p:cNvPr id="7" name="Shape 5"/>
          <p:cNvSpPr/>
          <p:nvPr/>
        </p:nvSpPr>
        <p:spPr>
          <a:xfrm>
            <a:off x="3337560" y="1554480"/>
            <a:ext cx="2606040" cy="1371600"/>
          </a:xfrm>
          <a:prstGeom prst="roundRect">
            <a:avLst>
              <a:gd name="adj" fmla="val 4667"/>
            </a:avLst>
          </a:prstGeom>
          <a:solidFill>
            <a:srgbClr val="1C7293"/>
          </a:solidFill>
          <a:ln/>
          <a:effectLst>
            <a:outerShdw sx="100000" sy="100000" kx="0" ky="0" algn="bl" rotWithShape="0" blurRad="88900" dist="25400" dir="5400000">
              <a:srgbClr val="000000">
                <a:alpha val="12000"/>
              </a:srgbClr>
            </a:outerShdw>
          </a:effectLst>
        </p:spPr>
      </p:sp>
      <p:sp>
        <p:nvSpPr>
          <p:cNvPr id="8" name="Text 6"/>
          <p:cNvSpPr/>
          <p:nvPr/>
        </p:nvSpPr>
        <p:spPr>
          <a:xfrm>
            <a:off x="3337560" y="1691640"/>
            <a:ext cx="2606040" cy="685800"/>
          </a:xfrm>
          <a:prstGeom prst="rect">
            <a:avLst/>
          </a:prstGeom>
          <a:noFill/>
          <a:ln/>
        </p:spPr>
        <p:txBody>
          <a:bodyPr wrap="square"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5.33%</a:t>
            </a:r>
            <a:endParaRPr lang="en-US" sz="3400" dirty="0"/>
          </a:p>
        </p:txBody>
      </p:sp>
      <p:sp>
        <p:nvSpPr>
          <p:cNvPr id="9" name="Text 7"/>
          <p:cNvSpPr/>
          <p:nvPr/>
        </p:nvSpPr>
        <p:spPr>
          <a:xfrm>
            <a:off x="3337560" y="2395728"/>
            <a:ext cx="2606040" cy="365760"/>
          </a:xfrm>
          <a:prstGeom prst="rect">
            <a:avLst/>
          </a:prstGeom>
          <a:noFill/>
          <a:ln/>
        </p:spPr>
        <p:txBody>
          <a:bodyPr wrap="square" rtlCol="0" anchor="ctr"/>
          <a:lstStyle/>
          <a:p>
            <a:pPr algn="ctr" indent="0" marL="0">
              <a:buNone/>
            </a:pPr>
            <a:r>
              <a:rPr lang="en-US" sz="1200" dirty="0">
                <a:solidFill>
                  <a:srgbClr val="E4F0F5"/>
                </a:solidFill>
                <a:latin typeface="Calibri" pitchFamily="34" charset="0"/>
                <a:ea typeface="Calibri" pitchFamily="34" charset="-122"/>
                <a:cs typeface="Calibri" pitchFamily="34" charset="-120"/>
              </a:rPr>
              <a:t>Char Error Rate ↓</a:t>
            </a:r>
            <a:endParaRPr lang="en-US" sz="1200" dirty="0"/>
          </a:p>
        </p:txBody>
      </p:sp>
      <p:sp>
        <p:nvSpPr>
          <p:cNvPr id="10" name="Shape 8"/>
          <p:cNvSpPr/>
          <p:nvPr/>
        </p:nvSpPr>
        <p:spPr>
          <a:xfrm>
            <a:off x="6126480" y="1554480"/>
            <a:ext cx="2606040" cy="1371600"/>
          </a:xfrm>
          <a:prstGeom prst="roundRect">
            <a:avLst>
              <a:gd name="adj" fmla="val 4667"/>
            </a:avLst>
          </a:prstGeom>
          <a:solidFill>
            <a:srgbClr val="065A82"/>
          </a:solidFill>
          <a:ln/>
          <a:effectLst>
            <a:outerShdw sx="100000" sy="100000" kx="0" ky="0" algn="bl" rotWithShape="0" blurRad="88900" dist="25400" dir="5400000">
              <a:srgbClr val="000000">
                <a:alpha val="12000"/>
              </a:srgbClr>
            </a:outerShdw>
          </a:effectLst>
        </p:spPr>
      </p:sp>
      <p:sp>
        <p:nvSpPr>
          <p:cNvPr id="11" name="Text 9"/>
          <p:cNvSpPr/>
          <p:nvPr/>
        </p:nvSpPr>
        <p:spPr>
          <a:xfrm>
            <a:off x="6126480" y="1691640"/>
            <a:ext cx="2606040" cy="685800"/>
          </a:xfrm>
          <a:prstGeom prst="rect">
            <a:avLst/>
          </a:prstGeom>
          <a:noFill/>
          <a:ln/>
        </p:spPr>
        <p:txBody>
          <a:bodyPr wrap="square"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0.837</a:t>
            </a:r>
            <a:endParaRPr lang="en-US" sz="3400" dirty="0"/>
          </a:p>
        </p:txBody>
      </p:sp>
      <p:sp>
        <p:nvSpPr>
          <p:cNvPr id="12" name="Text 10"/>
          <p:cNvSpPr/>
          <p:nvPr/>
        </p:nvSpPr>
        <p:spPr>
          <a:xfrm>
            <a:off x="6126480" y="2395728"/>
            <a:ext cx="2606040" cy="365760"/>
          </a:xfrm>
          <a:prstGeom prst="rect">
            <a:avLst/>
          </a:prstGeom>
          <a:noFill/>
          <a:ln/>
        </p:spPr>
        <p:txBody>
          <a:bodyPr wrap="square" rtlCol="0" anchor="ctr"/>
          <a:lstStyle/>
          <a:p>
            <a:pPr algn="ctr" indent="0" marL="0">
              <a:buNone/>
            </a:pPr>
            <a:r>
              <a:rPr lang="en-US" sz="1200" dirty="0">
                <a:solidFill>
                  <a:srgbClr val="E4F0F5"/>
                </a:solidFill>
                <a:latin typeface="Calibri" pitchFamily="34" charset="0"/>
                <a:ea typeface="Calibri" pitchFamily="34" charset="-122"/>
                <a:cs typeface="Calibri" pitchFamily="34" charset="-120"/>
              </a:rPr>
              <a:t>BLEU-4 ↑</a:t>
            </a:r>
            <a:endParaRPr lang="en-US" sz="1200" dirty="0"/>
          </a:p>
        </p:txBody>
      </p:sp>
      <p:sp>
        <p:nvSpPr>
          <p:cNvPr id="13" name="Shape 11"/>
          <p:cNvSpPr/>
          <p:nvPr/>
        </p:nvSpPr>
        <p:spPr>
          <a:xfrm>
            <a:off x="8915400" y="1554480"/>
            <a:ext cx="2606040" cy="1371600"/>
          </a:xfrm>
          <a:prstGeom prst="roundRect">
            <a:avLst>
              <a:gd name="adj" fmla="val 4667"/>
            </a:avLst>
          </a:prstGeom>
          <a:solidFill>
            <a:srgbClr val="1C7293"/>
          </a:solidFill>
          <a:ln/>
          <a:effectLst>
            <a:outerShdw sx="100000" sy="100000" kx="0" ky="0" algn="bl" rotWithShape="0" blurRad="88900" dist="25400" dir="5400000">
              <a:srgbClr val="000000">
                <a:alpha val="12000"/>
              </a:srgbClr>
            </a:outerShdw>
          </a:effectLst>
        </p:spPr>
      </p:sp>
      <p:sp>
        <p:nvSpPr>
          <p:cNvPr id="14" name="Text 12"/>
          <p:cNvSpPr/>
          <p:nvPr/>
        </p:nvSpPr>
        <p:spPr>
          <a:xfrm>
            <a:off x="8915400" y="1691640"/>
            <a:ext cx="2606040" cy="685800"/>
          </a:xfrm>
          <a:prstGeom prst="rect">
            <a:avLst/>
          </a:prstGeom>
          <a:noFill/>
          <a:ln/>
        </p:spPr>
        <p:txBody>
          <a:bodyPr wrap="square"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65.4%</a:t>
            </a:r>
            <a:endParaRPr lang="en-US" sz="3400" dirty="0"/>
          </a:p>
        </p:txBody>
      </p:sp>
      <p:sp>
        <p:nvSpPr>
          <p:cNvPr id="15" name="Text 13"/>
          <p:cNvSpPr/>
          <p:nvPr/>
        </p:nvSpPr>
        <p:spPr>
          <a:xfrm>
            <a:off x="8915400" y="2395728"/>
            <a:ext cx="2606040" cy="365760"/>
          </a:xfrm>
          <a:prstGeom prst="rect">
            <a:avLst/>
          </a:prstGeom>
          <a:noFill/>
          <a:ln/>
        </p:spPr>
        <p:txBody>
          <a:bodyPr wrap="square" rtlCol="0" anchor="ctr"/>
          <a:lstStyle/>
          <a:p>
            <a:pPr algn="ctr" indent="0" marL="0">
              <a:buNone/>
            </a:pPr>
            <a:r>
              <a:rPr lang="en-US" sz="1200" dirty="0">
                <a:solidFill>
                  <a:srgbClr val="E4F0F5"/>
                </a:solidFill>
                <a:latin typeface="Calibri" pitchFamily="34" charset="0"/>
                <a:ea typeface="Calibri" pitchFamily="34" charset="-122"/>
                <a:cs typeface="Calibri" pitchFamily="34" charset="-120"/>
              </a:rPr>
              <a:t>Exact Match ↑</a:t>
            </a:r>
            <a:endParaRPr lang="en-US" sz="1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3246120"/>
          <a:ext cx="11064240" cy="914400"/>
        </p:xfrm>
        <a:graphic>
          <a:graphicData uri="http://schemas.openxmlformats.org/drawingml/2006/table">
            <a:tbl>
              <a:tblPr/>
              <a:tblGrid>
                <a:gridCol w="3063240"/>
                <a:gridCol w="1417320"/>
                <a:gridCol w="1600200"/>
                <a:gridCol w="1600200"/>
                <a:gridCol w="1691640"/>
                <a:gridCol w="1691640"/>
              </a:tblGrid>
              <a:tr h="4572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Subset</a:t>
                      </a:r>
                      <a:endParaRPr lang="en-US" sz="1400" dirty="0">
                        <a:latin typeface="Calibri" charset="0"/>
                        <a:ea typeface="Calibri" charset="0"/>
                        <a:cs typeface="Calibri" charset="0"/>
                      </a:endParaRPr>
                    </a:p>
                  </a:txBody>
                  <a:tcPr marL="91440" marR="91440" marT="45720" marB="45720" anchor="ctr">
                    <a:lnL w="6350" cap="flat" cmpd="sng" algn="ctr">
                      <a:solidFill>
                        <a:srgbClr val="D6E3EA"/>
                      </a:solidFill>
                      <a:prstDash val="solid"/>
                      <a:round/>
                      <a:headEnd type="none" w="med" len="med"/>
                      <a:tailEnd type="none" w="med" len="med"/>
                    </a:lnL>
                    <a:lnR w="6350" cap="flat" cmpd="sng" algn="ctr">
                      <a:solidFill>
                        <a:srgbClr val="D6E3EA"/>
                      </a:solidFill>
                      <a:prstDash val="solid"/>
                      <a:round/>
                      <a:headEnd type="none" w="med" len="med"/>
                      <a:tailEnd type="none" w="med" len="med"/>
                    </a:lnR>
                    <a:lnT w="6350" cap="flat" cmpd="sng" algn="ctr">
                      <a:solidFill>
                        <a:srgbClr val="D6E3EA"/>
                      </a:solidFill>
                      <a:prstDash val="solid"/>
                      <a:round/>
                      <a:headEnd type="none" w="med" len="med"/>
                      <a:tailEnd type="none" w="med" len="med"/>
                    </a:lnT>
                    <a:lnB w="6350" cap="flat" cmpd="sng" algn="ctr">
                      <a:solidFill>
                        <a:srgbClr val="D6E3EA"/>
                      </a:solidFill>
                      <a:prstDash val="solid"/>
                      <a:round/>
                      <a:headEnd type="none" w="med" len="med"/>
                      <a:tailEnd type="none" w="med" len="med"/>
                    </a:lnB>
                    <a:solidFill>
                      <a:srgbClr val="065A82"/>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n</a:t>
                      </a:r>
                      <a:endParaRPr lang="en-US" sz="1400" dirty="0">
                        <a:latin typeface="Calibri" charset="0"/>
                        <a:ea typeface="Calibri" charset="0"/>
                        <a:cs typeface="Calibri" charset="0"/>
                      </a:endParaRPr>
                    </a:p>
                  </a:txBody>
                  <a:tcPr marL="91440" marR="91440" marT="45720" marB="45720" anchor="ctr">
                    <a:lnL w="6350" cap="flat" cmpd="sng" algn="ctr">
                      <a:solidFill>
                        <a:srgbClr val="D6E3EA"/>
                      </a:solidFill>
                      <a:prstDash val="solid"/>
                      <a:round/>
                      <a:headEnd type="none" w="med" len="med"/>
                      <a:tailEnd type="none" w="med" len="med"/>
                    </a:lnL>
                    <a:lnR w="6350" cap="flat" cmpd="sng" algn="ctr">
                      <a:solidFill>
                        <a:srgbClr val="D6E3EA"/>
                      </a:solidFill>
                      <a:prstDash val="solid"/>
                      <a:round/>
                      <a:headEnd type="none" w="med" len="med"/>
                      <a:tailEnd type="none" w="med" len="med"/>
                    </a:lnR>
                    <a:lnT w="6350" cap="flat" cmpd="sng" algn="ctr">
                      <a:solidFill>
                        <a:srgbClr val="D6E3EA"/>
                      </a:solidFill>
                      <a:prstDash val="solid"/>
                      <a:round/>
                      <a:headEnd type="none" w="med" len="med"/>
                      <a:tailEnd type="none" w="med" len="med"/>
                    </a:lnT>
                    <a:lnB w="6350" cap="flat" cmpd="sng" algn="ctr">
                      <a:solidFill>
                        <a:srgbClr val="D6E3EA"/>
                      </a:solidFill>
                      <a:prstDash val="solid"/>
                      <a:round/>
                      <a:headEnd type="none" w="med" len="med"/>
                      <a:tailEnd type="none" w="med" len="med"/>
                    </a:lnB>
                    <a:solidFill>
                      <a:srgbClr val="065A82"/>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WER ↓</a:t>
                      </a:r>
                      <a:endParaRPr lang="en-US" sz="1400" dirty="0">
                        <a:latin typeface="Calibri" charset="0"/>
                        <a:ea typeface="Calibri" charset="0"/>
                        <a:cs typeface="Calibri" charset="0"/>
                      </a:endParaRPr>
                    </a:p>
                  </a:txBody>
                  <a:tcPr marL="91440" marR="91440" marT="45720" marB="45720" anchor="ctr">
                    <a:lnL w="6350" cap="flat" cmpd="sng" algn="ctr">
                      <a:solidFill>
                        <a:srgbClr val="D6E3EA"/>
                      </a:solidFill>
                      <a:prstDash val="solid"/>
                      <a:round/>
                      <a:headEnd type="none" w="med" len="med"/>
                      <a:tailEnd type="none" w="med" len="med"/>
                    </a:lnL>
                    <a:lnR w="6350" cap="flat" cmpd="sng" algn="ctr">
                      <a:solidFill>
                        <a:srgbClr val="D6E3EA"/>
                      </a:solidFill>
                      <a:prstDash val="solid"/>
                      <a:round/>
                      <a:headEnd type="none" w="med" len="med"/>
                      <a:tailEnd type="none" w="med" len="med"/>
                    </a:lnR>
                    <a:lnT w="6350" cap="flat" cmpd="sng" algn="ctr">
                      <a:solidFill>
                        <a:srgbClr val="D6E3EA"/>
                      </a:solidFill>
                      <a:prstDash val="solid"/>
                      <a:round/>
                      <a:headEnd type="none" w="med" len="med"/>
                      <a:tailEnd type="none" w="med" len="med"/>
                    </a:lnT>
                    <a:lnB w="6350" cap="flat" cmpd="sng" algn="ctr">
                      <a:solidFill>
                        <a:srgbClr val="D6E3EA"/>
                      </a:solidFill>
                      <a:prstDash val="solid"/>
                      <a:round/>
                      <a:headEnd type="none" w="med" len="med"/>
                      <a:tailEnd type="none" w="med" len="med"/>
                    </a:lnB>
                    <a:solidFill>
                      <a:srgbClr val="065A82"/>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CER ↓</a:t>
                      </a:r>
                      <a:endParaRPr lang="en-US" sz="1400" dirty="0">
                        <a:latin typeface="Calibri" charset="0"/>
                        <a:ea typeface="Calibri" charset="0"/>
                        <a:cs typeface="Calibri" charset="0"/>
                      </a:endParaRPr>
                    </a:p>
                  </a:txBody>
                  <a:tcPr marL="91440" marR="91440" marT="45720" marB="45720" anchor="ctr">
                    <a:lnL w="6350" cap="flat" cmpd="sng" algn="ctr">
                      <a:solidFill>
                        <a:srgbClr val="D6E3EA"/>
                      </a:solidFill>
                      <a:prstDash val="solid"/>
                      <a:round/>
                      <a:headEnd type="none" w="med" len="med"/>
                      <a:tailEnd type="none" w="med" len="med"/>
                    </a:lnL>
                    <a:lnR w="6350" cap="flat" cmpd="sng" algn="ctr">
                      <a:solidFill>
                        <a:srgbClr val="D6E3EA"/>
                      </a:solidFill>
                      <a:prstDash val="solid"/>
                      <a:round/>
                      <a:headEnd type="none" w="med" len="med"/>
                      <a:tailEnd type="none" w="med" len="med"/>
                    </a:lnR>
                    <a:lnT w="6350" cap="flat" cmpd="sng" algn="ctr">
                      <a:solidFill>
                        <a:srgbClr val="D6E3EA"/>
                      </a:solidFill>
                      <a:prstDash val="solid"/>
                      <a:round/>
                      <a:headEnd type="none" w="med" len="med"/>
                      <a:tailEnd type="none" w="med" len="med"/>
                    </a:lnT>
                    <a:lnB w="6350" cap="flat" cmpd="sng" algn="ctr">
                      <a:solidFill>
                        <a:srgbClr val="D6E3EA"/>
                      </a:solidFill>
                      <a:prstDash val="solid"/>
                      <a:round/>
                      <a:headEnd type="none" w="med" len="med"/>
                      <a:tailEnd type="none" w="med" len="med"/>
                    </a:lnB>
                    <a:solidFill>
                      <a:srgbClr val="065A82"/>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BLEU-4 ↑</a:t>
                      </a:r>
                      <a:endParaRPr lang="en-US" sz="1400" dirty="0">
                        <a:latin typeface="Calibri" charset="0"/>
                        <a:ea typeface="Calibri" charset="0"/>
                        <a:cs typeface="Calibri" charset="0"/>
                      </a:endParaRPr>
                    </a:p>
                  </a:txBody>
                  <a:tcPr marL="91440" marR="91440" marT="45720" marB="45720" anchor="ctr">
                    <a:lnL w="6350" cap="flat" cmpd="sng" algn="ctr">
                      <a:solidFill>
                        <a:srgbClr val="D6E3EA"/>
                      </a:solidFill>
                      <a:prstDash val="solid"/>
                      <a:round/>
                      <a:headEnd type="none" w="med" len="med"/>
                      <a:tailEnd type="none" w="med" len="med"/>
                    </a:lnL>
                    <a:lnR w="6350" cap="flat" cmpd="sng" algn="ctr">
                      <a:solidFill>
                        <a:srgbClr val="D6E3EA"/>
                      </a:solidFill>
                      <a:prstDash val="solid"/>
                      <a:round/>
                      <a:headEnd type="none" w="med" len="med"/>
                      <a:tailEnd type="none" w="med" len="med"/>
                    </a:lnR>
                    <a:lnT w="6350" cap="flat" cmpd="sng" algn="ctr">
                      <a:solidFill>
                        <a:srgbClr val="D6E3EA"/>
                      </a:solidFill>
                      <a:prstDash val="solid"/>
                      <a:round/>
                      <a:headEnd type="none" w="med" len="med"/>
                      <a:tailEnd type="none" w="med" len="med"/>
                    </a:lnT>
                    <a:lnB w="6350" cap="flat" cmpd="sng" algn="ctr">
                      <a:solidFill>
                        <a:srgbClr val="D6E3EA"/>
                      </a:solidFill>
                      <a:prstDash val="solid"/>
                      <a:round/>
                      <a:headEnd type="none" w="med" len="med"/>
                      <a:tailEnd type="none" w="med" len="med"/>
                    </a:lnB>
                    <a:solidFill>
                      <a:srgbClr val="065A82"/>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Exact Match ↑</a:t>
                      </a:r>
                      <a:endParaRPr lang="en-US" sz="1400" dirty="0">
                        <a:latin typeface="Calibri" charset="0"/>
                        <a:ea typeface="Calibri" charset="0"/>
                        <a:cs typeface="Calibri" charset="0"/>
                      </a:endParaRPr>
                    </a:p>
                  </a:txBody>
                  <a:tcPr marL="91440" marR="91440" marT="45720" marB="45720" anchor="ctr">
                    <a:lnL w="6350" cap="flat" cmpd="sng" algn="ctr">
                      <a:solidFill>
                        <a:srgbClr val="D6E3EA"/>
                      </a:solidFill>
                      <a:prstDash val="solid"/>
                      <a:round/>
                      <a:headEnd type="none" w="med" len="med"/>
                      <a:tailEnd type="none" w="med" len="med"/>
                    </a:lnL>
                    <a:lnR w="6350" cap="flat" cmpd="sng" algn="ctr">
                      <a:solidFill>
                        <a:srgbClr val="D6E3EA"/>
                      </a:solidFill>
                      <a:prstDash val="solid"/>
                      <a:round/>
                      <a:headEnd type="none" w="med" len="med"/>
                      <a:tailEnd type="none" w="med" len="med"/>
                    </a:lnR>
                    <a:lnT w="6350" cap="flat" cmpd="sng" algn="ctr">
                      <a:solidFill>
                        <a:srgbClr val="D6E3EA"/>
                      </a:solidFill>
                      <a:prstDash val="solid"/>
                      <a:round/>
                      <a:headEnd type="none" w="med" len="med"/>
                      <a:tailEnd type="none" w="med" len="med"/>
                    </a:lnT>
                    <a:lnB w="6350" cap="flat" cmpd="sng" algn="ctr">
                      <a:solidFill>
                        <a:srgbClr val="D6E3EA"/>
                      </a:solidFill>
                      <a:prstDash val="solid"/>
                      <a:round/>
                      <a:headEnd type="none" w="med" len="med"/>
                      <a:tailEnd type="none" w="med" len="med"/>
                    </a:lnB>
                    <a:solidFill>
                      <a:srgbClr val="065A82"/>
                    </a:solidFill>
                  </a:tcPr>
                </a:tc>
              </a:tr>
              <a:tr h="457200">
                <a:tc>
                  <a:txBody>
                    <a:bodyPr/>
                    <a:lstStyle/>
                    <a:p>
                      <a:pPr algn="l" indent="0" marL="0">
                        <a:buNone/>
                      </a:pPr>
                      <a:r>
                        <a:rPr lang="en-US" sz="1400" b="1" dirty="0">
                          <a:solidFill>
                            <a:srgbClr val="1B2733"/>
                          </a:solidFill>
                          <a:latin typeface="Calibri" pitchFamily="34" charset="0"/>
                          <a:ea typeface="Calibri" pitchFamily="34" charset="-122"/>
                          <a:cs typeface="Calibri" pitchFamily="34" charset="-120"/>
                        </a:rPr>
                        <a:t>Overall</a:t>
                      </a:r>
                      <a:endParaRPr lang="en-US" sz="1400" dirty="0">
                        <a:latin typeface="Calibri" charset="0"/>
                        <a:ea typeface="Calibri" charset="0"/>
                        <a:cs typeface="Calibri" charset="0"/>
                      </a:endParaRPr>
                    </a:p>
                  </a:txBody>
                  <a:tcPr marL="91440" marR="91440" marT="45720" marB="45720" anchor="ctr">
                    <a:lnL w="6350" cap="flat" cmpd="sng" algn="ctr">
                      <a:solidFill>
                        <a:srgbClr val="D6E3EA"/>
                      </a:solidFill>
                      <a:prstDash val="solid"/>
                      <a:round/>
                      <a:headEnd type="none" w="med" len="med"/>
                      <a:tailEnd type="none" w="med" len="med"/>
                    </a:lnL>
                    <a:lnR w="6350" cap="flat" cmpd="sng" algn="ctr">
                      <a:solidFill>
                        <a:srgbClr val="D6E3EA"/>
                      </a:solidFill>
                      <a:prstDash val="solid"/>
                      <a:round/>
                      <a:headEnd type="none" w="med" len="med"/>
                      <a:tailEnd type="none" w="med" len="med"/>
                    </a:lnR>
                    <a:lnT w="6350" cap="flat" cmpd="sng" algn="ctr">
                      <a:solidFill>
                        <a:srgbClr val="D6E3EA"/>
                      </a:solidFill>
                      <a:prstDash val="solid"/>
                      <a:round/>
                      <a:headEnd type="none" w="med" len="med"/>
                      <a:tailEnd type="none" w="med" len="med"/>
                    </a:lnT>
                    <a:lnB w="6350" cap="flat" cmpd="sng" algn="ctr">
                      <a:solidFill>
                        <a:srgbClr val="D6E3EA"/>
                      </a:solidFill>
                      <a:prstDash val="solid"/>
                      <a:round/>
                      <a:headEnd type="none" w="med" len="med"/>
                      <a:tailEnd type="none" w="med" len="med"/>
                    </a:lnB>
                    <a:solidFill>
                      <a:srgbClr val="EAF3F7"/>
                    </a:solidFill>
                  </a:tcPr>
                </a:tc>
                <a:tc>
                  <a:txBody>
                    <a:bodyPr/>
                    <a:lstStyle/>
                    <a:p>
                      <a:pPr algn="r" indent="0" marL="0">
                        <a:buNone/>
                      </a:pPr>
                      <a:r>
                        <a:rPr lang="en-US" sz="1400" b="1" dirty="0">
                          <a:solidFill>
                            <a:srgbClr val="1B2733"/>
                          </a:solidFill>
                          <a:latin typeface="Calibri" pitchFamily="34" charset="0"/>
                          <a:ea typeface="Calibri" pitchFamily="34" charset="-122"/>
                          <a:cs typeface="Calibri" pitchFamily="34" charset="-120"/>
                        </a:rPr>
                        <a:t>9,633</a:t>
                      </a:r>
                      <a:endParaRPr lang="en-US" sz="1400" dirty="0">
                        <a:latin typeface="Calibri" charset="0"/>
                        <a:ea typeface="Calibri" charset="0"/>
                        <a:cs typeface="Calibri" charset="0"/>
                      </a:endParaRPr>
                    </a:p>
                  </a:txBody>
                  <a:tcPr marL="91440" marR="91440" marT="45720" marB="45720" anchor="ctr">
                    <a:lnL w="6350" cap="flat" cmpd="sng" algn="ctr">
                      <a:solidFill>
                        <a:srgbClr val="D6E3EA"/>
                      </a:solidFill>
                      <a:prstDash val="solid"/>
                      <a:round/>
                      <a:headEnd type="none" w="med" len="med"/>
                      <a:tailEnd type="none" w="med" len="med"/>
                    </a:lnL>
                    <a:lnR w="6350" cap="flat" cmpd="sng" algn="ctr">
                      <a:solidFill>
                        <a:srgbClr val="D6E3EA"/>
                      </a:solidFill>
                      <a:prstDash val="solid"/>
                      <a:round/>
                      <a:headEnd type="none" w="med" len="med"/>
                      <a:tailEnd type="none" w="med" len="med"/>
                    </a:lnR>
                    <a:lnT w="6350" cap="flat" cmpd="sng" algn="ctr">
                      <a:solidFill>
                        <a:srgbClr val="D6E3EA"/>
                      </a:solidFill>
                      <a:prstDash val="solid"/>
                      <a:round/>
                      <a:headEnd type="none" w="med" len="med"/>
                      <a:tailEnd type="none" w="med" len="med"/>
                    </a:lnT>
                    <a:lnB w="6350" cap="flat" cmpd="sng" algn="ctr">
                      <a:solidFill>
                        <a:srgbClr val="D6E3EA"/>
                      </a:solidFill>
                      <a:prstDash val="solid"/>
                      <a:round/>
                      <a:headEnd type="none" w="med" len="med"/>
                      <a:tailEnd type="none" w="med" len="med"/>
                    </a:lnB>
                    <a:solidFill>
                      <a:srgbClr val="EAF3F7"/>
                    </a:solidFill>
                  </a:tcPr>
                </a:tc>
                <a:tc>
                  <a:txBody>
                    <a:bodyPr/>
                    <a:lstStyle/>
                    <a:p>
                      <a:pPr algn="r" indent="0" marL="0">
                        <a:buNone/>
                      </a:pPr>
                      <a:r>
                        <a:rPr lang="en-US" sz="1400" b="1" dirty="0">
                          <a:solidFill>
                            <a:srgbClr val="1B2733"/>
                          </a:solidFill>
                          <a:latin typeface="Calibri" pitchFamily="34" charset="0"/>
                          <a:ea typeface="Calibri" pitchFamily="34" charset="-122"/>
                          <a:cs typeface="Calibri" pitchFamily="34" charset="-120"/>
                        </a:rPr>
                        <a:t>9.55%</a:t>
                      </a:r>
                      <a:endParaRPr lang="en-US" sz="1400" dirty="0">
                        <a:latin typeface="Calibri" charset="0"/>
                        <a:ea typeface="Calibri" charset="0"/>
                        <a:cs typeface="Calibri" charset="0"/>
                      </a:endParaRPr>
                    </a:p>
                  </a:txBody>
                  <a:tcPr marL="91440" marR="91440" marT="45720" marB="45720" anchor="ctr">
                    <a:lnL w="6350" cap="flat" cmpd="sng" algn="ctr">
                      <a:solidFill>
                        <a:srgbClr val="D6E3EA"/>
                      </a:solidFill>
                      <a:prstDash val="solid"/>
                      <a:round/>
                      <a:headEnd type="none" w="med" len="med"/>
                      <a:tailEnd type="none" w="med" len="med"/>
                    </a:lnL>
                    <a:lnR w="6350" cap="flat" cmpd="sng" algn="ctr">
                      <a:solidFill>
                        <a:srgbClr val="D6E3EA"/>
                      </a:solidFill>
                      <a:prstDash val="solid"/>
                      <a:round/>
                      <a:headEnd type="none" w="med" len="med"/>
                      <a:tailEnd type="none" w="med" len="med"/>
                    </a:lnR>
                    <a:lnT w="6350" cap="flat" cmpd="sng" algn="ctr">
                      <a:solidFill>
                        <a:srgbClr val="D6E3EA"/>
                      </a:solidFill>
                      <a:prstDash val="solid"/>
                      <a:round/>
                      <a:headEnd type="none" w="med" len="med"/>
                      <a:tailEnd type="none" w="med" len="med"/>
                    </a:lnT>
                    <a:lnB w="6350" cap="flat" cmpd="sng" algn="ctr">
                      <a:solidFill>
                        <a:srgbClr val="D6E3EA"/>
                      </a:solidFill>
                      <a:prstDash val="solid"/>
                      <a:round/>
                      <a:headEnd type="none" w="med" len="med"/>
                      <a:tailEnd type="none" w="med" len="med"/>
                    </a:lnB>
                    <a:solidFill>
                      <a:srgbClr val="EAF3F7"/>
                    </a:solidFill>
                  </a:tcPr>
                </a:tc>
                <a:tc>
                  <a:txBody>
                    <a:bodyPr/>
                    <a:lstStyle/>
                    <a:p>
                      <a:pPr algn="r" indent="0" marL="0">
                        <a:buNone/>
                      </a:pPr>
                      <a:r>
                        <a:rPr lang="en-US" sz="1400" b="1" dirty="0">
                          <a:solidFill>
                            <a:srgbClr val="1B2733"/>
                          </a:solidFill>
                          <a:latin typeface="Calibri" pitchFamily="34" charset="0"/>
                          <a:ea typeface="Calibri" pitchFamily="34" charset="-122"/>
                          <a:cs typeface="Calibri" pitchFamily="34" charset="-120"/>
                        </a:rPr>
                        <a:t>5.33%</a:t>
                      </a:r>
                      <a:endParaRPr lang="en-US" sz="1400" dirty="0">
                        <a:latin typeface="Calibri" charset="0"/>
                        <a:ea typeface="Calibri" charset="0"/>
                        <a:cs typeface="Calibri" charset="0"/>
                      </a:endParaRPr>
                    </a:p>
                  </a:txBody>
                  <a:tcPr marL="91440" marR="91440" marT="45720" marB="45720" anchor="ctr">
                    <a:lnL w="6350" cap="flat" cmpd="sng" algn="ctr">
                      <a:solidFill>
                        <a:srgbClr val="D6E3EA"/>
                      </a:solidFill>
                      <a:prstDash val="solid"/>
                      <a:round/>
                      <a:headEnd type="none" w="med" len="med"/>
                      <a:tailEnd type="none" w="med" len="med"/>
                    </a:lnL>
                    <a:lnR w="6350" cap="flat" cmpd="sng" algn="ctr">
                      <a:solidFill>
                        <a:srgbClr val="D6E3EA"/>
                      </a:solidFill>
                      <a:prstDash val="solid"/>
                      <a:round/>
                      <a:headEnd type="none" w="med" len="med"/>
                      <a:tailEnd type="none" w="med" len="med"/>
                    </a:lnR>
                    <a:lnT w="6350" cap="flat" cmpd="sng" algn="ctr">
                      <a:solidFill>
                        <a:srgbClr val="D6E3EA"/>
                      </a:solidFill>
                      <a:prstDash val="solid"/>
                      <a:round/>
                      <a:headEnd type="none" w="med" len="med"/>
                      <a:tailEnd type="none" w="med" len="med"/>
                    </a:lnT>
                    <a:lnB w="6350" cap="flat" cmpd="sng" algn="ctr">
                      <a:solidFill>
                        <a:srgbClr val="D6E3EA"/>
                      </a:solidFill>
                      <a:prstDash val="solid"/>
                      <a:round/>
                      <a:headEnd type="none" w="med" len="med"/>
                      <a:tailEnd type="none" w="med" len="med"/>
                    </a:lnB>
                    <a:solidFill>
                      <a:srgbClr val="EAF3F7"/>
                    </a:solidFill>
                  </a:tcPr>
                </a:tc>
                <a:tc>
                  <a:txBody>
                    <a:bodyPr/>
                    <a:lstStyle/>
                    <a:p>
                      <a:pPr algn="r" indent="0" marL="0">
                        <a:buNone/>
                      </a:pPr>
                      <a:r>
                        <a:rPr lang="en-US" sz="1400" b="1" dirty="0">
                          <a:solidFill>
                            <a:srgbClr val="1B2733"/>
                          </a:solidFill>
                          <a:latin typeface="Calibri" pitchFamily="34" charset="0"/>
                          <a:ea typeface="Calibri" pitchFamily="34" charset="-122"/>
                          <a:cs typeface="Calibri" pitchFamily="34" charset="-120"/>
                        </a:rPr>
                        <a:t>0.837</a:t>
                      </a:r>
                      <a:endParaRPr lang="en-US" sz="1400" dirty="0">
                        <a:latin typeface="Calibri" charset="0"/>
                        <a:ea typeface="Calibri" charset="0"/>
                        <a:cs typeface="Calibri" charset="0"/>
                      </a:endParaRPr>
                    </a:p>
                  </a:txBody>
                  <a:tcPr marL="91440" marR="91440" marT="45720" marB="45720" anchor="ctr">
                    <a:lnL w="6350" cap="flat" cmpd="sng" algn="ctr">
                      <a:solidFill>
                        <a:srgbClr val="D6E3EA"/>
                      </a:solidFill>
                      <a:prstDash val="solid"/>
                      <a:round/>
                      <a:headEnd type="none" w="med" len="med"/>
                      <a:tailEnd type="none" w="med" len="med"/>
                    </a:lnL>
                    <a:lnR w="6350" cap="flat" cmpd="sng" algn="ctr">
                      <a:solidFill>
                        <a:srgbClr val="D6E3EA"/>
                      </a:solidFill>
                      <a:prstDash val="solid"/>
                      <a:round/>
                      <a:headEnd type="none" w="med" len="med"/>
                      <a:tailEnd type="none" w="med" len="med"/>
                    </a:lnR>
                    <a:lnT w="6350" cap="flat" cmpd="sng" algn="ctr">
                      <a:solidFill>
                        <a:srgbClr val="D6E3EA"/>
                      </a:solidFill>
                      <a:prstDash val="solid"/>
                      <a:round/>
                      <a:headEnd type="none" w="med" len="med"/>
                      <a:tailEnd type="none" w="med" len="med"/>
                    </a:lnT>
                    <a:lnB w="6350" cap="flat" cmpd="sng" algn="ctr">
                      <a:solidFill>
                        <a:srgbClr val="D6E3EA"/>
                      </a:solidFill>
                      <a:prstDash val="solid"/>
                      <a:round/>
                      <a:headEnd type="none" w="med" len="med"/>
                      <a:tailEnd type="none" w="med" len="med"/>
                    </a:lnB>
                    <a:solidFill>
                      <a:srgbClr val="EAF3F7"/>
                    </a:solidFill>
                  </a:tcPr>
                </a:tc>
                <a:tc>
                  <a:txBody>
                    <a:bodyPr/>
                    <a:lstStyle/>
                    <a:p>
                      <a:pPr algn="r" indent="0" marL="0">
                        <a:buNone/>
                      </a:pPr>
                      <a:r>
                        <a:rPr lang="en-US" sz="1400" b="1" dirty="0">
                          <a:solidFill>
                            <a:srgbClr val="1B2733"/>
                          </a:solidFill>
                          <a:latin typeface="Calibri" pitchFamily="34" charset="0"/>
                          <a:ea typeface="Calibri" pitchFamily="34" charset="-122"/>
                          <a:cs typeface="Calibri" pitchFamily="34" charset="-120"/>
                        </a:rPr>
                        <a:t>65.45%</a:t>
                      </a:r>
                      <a:endParaRPr lang="en-US" sz="1400" dirty="0">
                        <a:latin typeface="Calibri" charset="0"/>
                        <a:ea typeface="Calibri" charset="0"/>
                        <a:cs typeface="Calibri" charset="0"/>
                      </a:endParaRPr>
                    </a:p>
                  </a:txBody>
                  <a:tcPr marL="91440" marR="91440" marT="45720" marB="45720" anchor="ctr">
                    <a:lnL w="6350" cap="flat" cmpd="sng" algn="ctr">
                      <a:solidFill>
                        <a:srgbClr val="D6E3EA"/>
                      </a:solidFill>
                      <a:prstDash val="solid"/>
                      <a:round/>
                      <a:headEnd type="none" w="med" len="med"/>
                      <a:tailEnd type="none" w="med" len="med"/>
                    </a:lnL>
                    <a:lnR w="6350" cap="flat" cmpd="sng" algn="ctr">
                      <a:solidFill>
                        <a:srgbClr val="D6E3EA"/>
                      </a:solidFill>
                      <a:prstDash val="solid"/>
                      <a:round/>
                      <a:headEnd type="none" w="med" len="med"/>
                      <a:tailEnd type="none" w="med" len="med"/>
                    </a:lnR>
                    <a:lnT w="6350" cap="flat" cmpd="sng" algn="ctr">
                      <a:solidFill>
                        <a:srgbClr val="D6E3EA"/>
                      </a:solidFill>
                      <a:prstDash val="solid"/>
                      <a:round/>
                      <a:headEnd type="none" w="med" len="med"/>
                      <a:tailEnd type="none" w="med" len="med"/>
                    </a:lnT>
                    <a:lnB w="6350" cap="flat" cmpd="sng" algn="ctr">
                      <a:solidFill>
                        <a:srgbClr val="D6E3EA"/>
                      </a:solidFill>
                      <a:prstDash val="solid"/>
                      <a:round/>
                      <a:headEnd type="none" w="med" len="med"/>
                      <a:tailEnd type="none" w="med" len="med"/>
                    </a:lnB>
                    <a:solidFill>
                      <a:srgbClr val="EAF3F7"/>
                    </a:solidFill>
                  </a:tcPr>
                </a:tc>
              </a:tr>
              <a:tr h="457200">
                <a:tc>
                  <a:txBody>
                    <a:bodyPr/>
                    <a:lstStyle/>
                    <a:p>
                      <a:pPr algn="l" indent="0" marL="0">
                        <a:buNone/>
                      </a:pPr>
                      <a:r>
                        <a:rPr lang="en-US" sz="1400" b="1" dirty="0">
                          <a:solidFill>
                            <a:srgbClr val="1B2733"/>
                          </a:solidFill>
                          <a:latin typeface="Calibri" pitchFamily="34" charset="0"/>
                          <a:ea typeface="Calibri" pitchFamily="34" charset="-122"/>
                          <a:cs typeface="Calibri" pitchFamily="34" charset="-120"/>
                        </a:rPr>
                        <a:t>Homophone</a:t>
                      </a:r>
                      <a:endParaRPr lang="en-US" sz="1400" dirty="0">
                        <a:latin typeface="Calibri" charset="0"/>
                        <a:ea typeface="Calibri" charset="0"/>
                        <a:cs typeface="Calibri" charset="0"/>
                      </a:endParaRPr>
                    </a:p>
                  </a:txBody>
                  <a:tcPr marL="91440" marR="91440" marT="45720" marB="45720" anchor="ctr">
                    <a:lnL w="6350" cap="flat" cmpd="sng" algn="ctr">
                      <a:solidFill>
                        <a:srgbClr val="D6E3EA"/>
                      </a:solidFill>
                      <a:prstDash val="solid"/>
                      <a:round/>
                      <a:headEnd type="none" w="med" len="med"/>
                      <a:tailEnd type="none" w="med" len="med"/>
                    </a:lnL>
                    <a:lnR w="6350" cap="flat" cmpd="sng" algn="ctr">
                      <a:solidFill>
                        <a:srgbClr val="D6E3EA"/>
                      </a:solidFill>
                      <a:prstDash val="solid"/>
                      <a:round/>
                      <a:headEnd type="none" w="med" len="med"/>
                      <a:tailEnd type="none" w="med" len="med"/>
                    </a:lnR>
                    <a:lnT w="6350" cap="flat" cmpd="sng" algn="ctr">
                      <a:solidFill>
                        <a:srgbClr val="D6E3EA"/>
                      </a:solidFill>
                      <a:prstDash val="solid"/>
                      <a:round/>
                      <a:headEnd type="none" w="med" len="med"/>
                      <a:tailEnd type="none" w="med" len="med"/>
                    </a:lnT>
                    <a:lnB w="6350" cap="flat" cmpd="sng" algn="ctr">
                      <a:solidFill>
                        <a:srgbClr val="D6E3EA"/>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733"/>
                          </a:solidFill>
                          <a:latin typeface="Calibri" pitchFamily="34" charset="0"/>
                          <a:ea typeface="Calibri" pitchFamily="34" charset="-122"/>
                          <a:cs typeface="Calibri" pitchFamily="34" charset="-120"/>
                        </a:rPr>
                        <a:t>7,511</a:t>
                      </a:r>
                      <a:endParaRPr lang="en-US" sz="1400" dirty="0">
                        <a:latin typeface="Calibri" charset="0"/>
                        <a:ea typeface="Calibri" charset="0"/>
                        <a:cs typeface="Calibri" charset="0"/>
                      </a:endParaRPr>
                    </a:p>
                  </a:txBody>
                  <a:tcPr marL="91440" marR="91440" marT="45720" marB="45720" anchor="ctr">
                    <a:lnL w="6350" cap="flat" cmpd="sng" algn="ctr">
                      <a:solidFill>
                        <a:srgbClr val="D6E3EA"/>
                      </a:solidFill>
                      <a:prstDash val="solid"/>
                      <a:round/>
                      <a:headEnd type="none" w="med" len="med"/>
                      <a:tailEnd type="none" w="med" len="med"/>
                    </a:lnL>
                    <a:lnR w="6350" cap="flat" cmpd="sng" algn="ctr">
                      <a:solidFill>
                        <a:srgbClr val="D6E3EA"/>
                      </a:solidFill>
                      <a:prstDash val="solid"/>
                      <a:round/>
                      <a:headEnd type="none" w="med" len="med"/>
                      <a:tailEnd type="none" w="med" len="med"/>
                    </a:lnR>
                    <a:lnT w="6350" cap="flat" cmpd="sng" algn="ctr">
                      <a:solidFill>
                        <a:srgbClr val="D6E3EA"/>
                      </a:solidFill>
                      <a:prstDash val="solid"/>
                      <a:round/>
                      <a:headEnd type="none" w="med" len="med"/>
                      <a:tailEnd type="none" w="med" len="med"/>
                    </a:lnT>
                    <a:lnB w="6350" cap="flat" cmpd="sng" algn="ctr">
                      <a:solidFill>
                        <a:srgbClr val="D6E3EA"/>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733"/>
                          </a:solidFill>
                          <a:latin typeface="Calibri" pitchFamily="34" charset="0"/>
                          <a:ea typeface="Calibri" pitchFamily="34" charset="-122"/>
                          <a:cs typeface="Calibri" pitchFamily="34" charset="-120"/>
                        </a:rPr>
                        <a:t>9.32%</a:t>
                      </a:r>
                      <a:endParaRPr lang="en-US" sz="1400" dirty="0">
                        <a:latin typeface="Calibri" charset="0"/>
                        <a:ea typeface="Calibri" charset="0"/>
                        <a:cs typeface="Calibri" charset="0"/>
                      </a:endParaRPr>
                    </a:p>
                  </a:txBody>
                  <a:tcPr marL="91440" marR="91440" marT="45720" marB="45720" anchor="ctr">
                    <a:lnL w="6350" cap="flat" cmpd="sng" algn="ctr">
                      <a:solidFill>
                        <a:srgbClr val="D6E3EA"/>
                      </a:solidFill>
                      <a:prstDash val="solid"/>
                      <a:round/>
                      <a:headEnd type="none" w="med" len="med"/>
                      <a:tailEnd type="none" w="med" len="med"/>
                    </a:lnL>
                    <a:lnR w="6350" cap="flat" cmpd="sng" algn="ctr">
                      <a:solidFill>
                        <a:srgbClr val="D6E3EA"/>
                      </a:solidFill>
                      <a:prstDash val="solid"/>
                      <a:round/>
                      <a:headEnd type="none" w="med" len="med"/>
                      <a:tailEnd type="none" w="med" len="med"/>
                    </a:lnR>
                    <a:lnT w="6350" cap="flat" cmpd="sng" algn="ctr">
                      <a:solidFill>
                        <a:srgbClr val="D6E3EA"/>
                      </a:solidFill>
                      <a:prstDash val="solid"/>
                      <a:round/>
                      <a:headEnd type="none" w="med" len="med"/>
                      <a:tailEnd type="none" w="med" len="med"/>
                    </a:lnT>
                    <a:lnB w="6350" cap="flat" cmpd="sng" algn="ctr">
                      <a:solidFill>
                        <a:srgbClr val="D6E3EA"/>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733"/>
                          </a:solidFill>
                          <a:latin typeface="Calibri" pitchFamily="34" charset="0"/>
                          <a:ea typeface="Calibri" pitchFamily="34" charset="-122"/>
                          <a:cs typeface="Calibri" pitchFamily="34" charset="-120"/>
                        </a:rPr>
                        <a:t>5.32%</a:t>
                      </a:r>
                      <a:endParaRPr lang="en-US" sz="1400" dirty="0">
                        <a:latin typeface="Calibri" charset="0"/>
                        <a:ea typeface="Calibri" charset="0"/>
                        <a:cs typeface="Calibri" charset="0"/>
                      </a:endParaRPr>
                    </a:p>
                  </a:txBody>
                  <a:tcPr marL="91440" marR="91440" marT="45720" marB="45720" anchor="ctr">
                    <a:lnL w="6350" cap="flat" cmpd="sng" algn="ctr">
                      <a:solidFill>
                        <a:srgbClr val="D6E3EA"/>
                      </a:solidFill>
                      <a:prstDash val="solid"/>
                      <a:round/>
                      <a:headEnd type="none" w="med" len="med"/>
                      <a:tailEnd type="none" w="med" len="med"/>
                    </a:lnL>
                    <a:lnR w="6350" cap="flat" cmpd="sng" algn="ctr">
                      <a:solidFill>
                        <a:srgbClr val="D6E3EA"/>
                      </a:solidFill>
                      <a:prstDash val="solid"/>
                      <a:round/>
                      <a:headEnd type="none" w="med" len="med"/>
                      <a:tailEnd type="none" w="med" len="med"/>
                    </a:lnR>
                    <a:lnT w="6350" cap="flat" cmpd="sng" algn="ctr">
                      <a:solidFill>
                        <a:srgbClr val="D6E3EA"/>
                      </a:solidFill>
                      <a:prstDash val="solid"/>
                      <a:round/>
                      <a:headEnd type="none" w="med" len="med"/>
                      <a:tailEnd type="none" w="med" len="med"/>
                    </a:lnT>
                    <a:lnB w="6350" cap="flat" cmpd="sng" algn="ctr">
                      <a:solidFill>
                        <a:srgbClr val="D6E3EA"/>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733"/>
                          </a:solidFill>
                          <a:latin typeface="Calibri" pitchFamily="34" charset="0"/>
                          <a:ea typeface="Calibri" pitchFamily="34" charset="-122"/>
                          <a:cs typeface="Calibri" pitchFamily="34" charset="-120"/>
                        </a:rPr>
                        <a:t>0.840</a:t>
                      </a:r>
                      <a:endParaRPr lang="en-US" sz="1400" dirty="0">
                        <a:latin typeface="Calibri" charset="0"/>
                        <a:ea typeface="Calibri" charset="0"/>
                        <a:cs typeface="Calibri" charset="0"/>
                      </a:endParaRPr>
                    </a:p>
                  </a:txBody>
                  <a:tcPr marL="91440" marR="91440" marT="45720" marB="45720" anchor="ctr">
                    <a:lnL w="6350" cap="flat" cmpd="sng" algn="ctr">
                      <a:solidFill>
                        <a:srgbClr val="D6E3EA"/>
                      </a:solidFill>
                      <a:prstDash val="solid"/>
                      <a:round/>
                      <a:headEnd type="none" w="med" len="med"/>
                      <a:tailEnd type="none" w="med" len="med"/>
                    </a:lnL>
                    <a:lnR w="6350" cap="flat" cmpd="sng" algn="ctr">
                      <a:solidFill>
                        <a:srgbClr val="D6E3EA"/>
                      </a:solidFill>
                      <a:prstDash val="solid"/>
                      <a:round/>
                      <a:headEnd type="none" w="med" len="med"/>
                      <a:tailEnd type="none" w="med" len="med"/>
                    </a:lnR>
                    <a:lnT w="6350" cap="flat" cmpd="sng" algn="ctr">
                      <a:solidFill>
                        <a:srgbClr val="D6E3EA"/>
                      </a:solidFill>
                      <a:prstDash val="solid"/>
                      <a:round/>
                      <a:headEnd type="none" w="med" len="med"/>
                      <a:tailEnd type="none" w="med" len="med"/>
                    </a:lnT>
                    <a:lnB w="6350" cap="flat" cmpd="sng" algn="ctr">
                      <a:solidFill>
                        <a:srgbClr val="D6E3EA"/>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733"/>
                          </a:solidFill>
                          <a:latin typeface="Calibri" pitchFamily="34" charset="0"/>
                          <a:ea typeface="Calibri" pitchFamily="34" charset="-122"/>
                          <a:cs typeface="Calibri" pitchFamily="34" charset="-120"/>
                        </a:rPr>
                        <a:t>64.67%</a:t>
                      </a:r>
                      <a:endParaRPr lang="en-US" sz="1400" dirty="0">
                        <a:latin typeface="Calibri" charset="0"/>
                        <a:ea typeface="Calibri" charset="0"/>
                        <a:cs typeface="Calibri" charset="0"/>
                      </a:endParaRPr>
                    </a:p>
                  </a:txBody>
                  <a:tcPr marL="91440" marR="91440" marT="45720" marB="45720" anchor="ctr">
                    <a:lnL w="6350" cap="flat" cmpd="sng" algn="ctr">
                      <a:solidFill>
                        <a:srgbClr val="D6E3EA"/>
                      </a:solidFill>
                      <a:prstDash val="solid"/>
                      <a:round/>
                      <a:headEnd type="none" w="med" len="med"/>
                      <a:tailEnd type="none" w="med" len="med"/>
                    </a:lnL>
                    <a:lnR w="6350" cap="flat" cmpd="sng" algn="ctr">
                      <a:solidFill>
                        <a:srgbClr val="D6E3EA"/>
                      </a:solidFill>
                      <a:prstDash val="solid"/>
                      <a:round/>
                      <a:headEnd type="none" w="med" len="med"/>
                      <a:tailEnd type="none" w="med" len="med"/>
                    </a:lnR>
                    <a:lnT w="6350" cap="flat" cmpd="sng" algn="ctr">
                      <a:solidFill>
                        <a:srgbClr val="D6E3EA"/>
                      </a:solidFill>
                      <a:prstDash val="solid"/>
                      <a:round/>
                      <a:headEnd type="none" w="med" len="med"/>
                      <a:tailEnd type="none" w="med" len="med"/>
                    </a:lnT>
                    <a:lnB w="6350" cap="flat" cmpd="sng" algn="ctr">
                      <a:solidFill>
                        <a:srgbClr val="D6E3EA"/>
                      </a:solidFill>
                      <a:prstDash val="solid"/>
                      <a:round/>
                      <a:headEnd type="none" w="med" len="med"/>
                      <a:tailEnd type="none" w="med" len="med"/>
                    </a:lnB>
                    <a:solidFill>
                      <a:srgbClr val="FFFFFF"/>
                    </a:solidFill>
                  </a:tcPr>
                </a:tc>
              </a:tr>
              <a:tr h="457200">
                <a:tc>
                  <a:txBody>
                    <a:bodyPr/>
                    <a:lstStyle/>
                    <a:p>
                      <a:pPr algn="l" indent="0" marL="0">
                        <a:buNone/>
                      </a:pPr>
                      <a:r>
                        <a:rPr lang="en-US" sz="1400" b="1" dirty="0">
                          <a:solidFill>
                            <a:srgbClr val="1B2733"/>
                          </a:solidFill>
                          <a:latin typeface="Calibri" pitchFamily="34" charset="0"/>
                          <a:ea typeface="Calibri" pitchFamily="34" charset="-122"/>
                          <a:cs typeface="Calibri" pitchFamily="34" charset="-120"/>
                        </a:rPr>
                        <a:t>Non-homophone</a:t>
                      </a:r>
                      <a:endParaRPr lang="en-US" sz="1400" dirty="0">
                        <a:latin typeface="Calibri" charset="0"/>
                        <a:ea typeface="Calibri" charset="0"/>
                        <a:cs typeface="Calibri" charset="0"/>
                      </a:endParaRPr>
                    </a:p>
                  </a:txBody>
                  <a:tcPr marL="91440" marR="91440" marT="45720" marB="45720" anchor="ctr">
                    <a:lnL w="6350" cap="flat" cmpd="sng" algn="ctr">
                      <a:solidFill>
                        <a:srgbClr val="D6E3EA"/>
                      </a:solidFill>
                      <a:prstDash val="solid"/>
                      <a:round/>
                      <a:headEnd type="none" w="med" len="med"/>
                      <a:tailEnd type="none" w="med" len="med"/>
                    </a:lnL>
                    <a:lnR w="6350" cap="flat" cmpd="sng" algn="ctr">
                      <a:solidFill>
                        <a:srgbClr val="D6E3EA"/>
                      </a:solidFill>
                      <a:prstDash val="solid"/>
                      <a:round/>
                      <a:headEnd type="none" w="med" len="med"/>
                      <a:tailEnd type="none" w="med" len="med"/>
                    </a:lnR>
                    <a:lnT w="6350" cap="flat" cmpd="sng" algn="ctr">
                      <a:solidFill>
                        <a:srgbClr val="D6E3EA"/>
                      </a:solidFill>
                      <a:prstDash val="solid"/>
                      <a:round/>
                      <a:headEnd type="none" w="med" len="med"/>
                      <a:tailEnd type="none" w="med" len="med"/>
                    </a:lnT>
                    <a:lnB w="6350" cap="flat" cmpd="sng" algn="ctr">
                      <a:solidFill>
                        <a:srgbClr val="D6E3EA"/>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733"/>
                          </a:solidFill>
                          <a:latin typeface="Calibri" pitchFamily="34" charset="0"/>
                          <a:ea typeface="Calibri" pitchFamily="34" charset="-122"/>
                          <a:cs typeface="Calibri" pitchFamily="34" charset="-120"/>
                        </a:rPr>
                        <a:t>2,122</a:t>
                      </a:r>
                      <a:endParaRPr lang="en-US" sz="1400" dirty="0">
                        <a:latin typeface="Calibri" charset="0"/>
                        <a:ea typeface="Calibri" charset="0"/>
                        <a:cs typeface="Calibri" charset="0"/>
                      </a:endParaRPr>
                    </a:p>
                  </a:txBody>
                  <a:tcPr marL="91440" marR="91440" marT="45720" marB="45720" anchor="ctr">
                    <a:lnL w="6350" cap="flat" cmpd="sng" algn="ctr">
                      <a:solidFill>
                        <a:srgbClr val="D6E3EA"/>
                      </a:solidFill>
                      <a:prstDash val="solid"/>
                      <a:round/>
                      <a:headEnd type="none" w="med" len="med"/>
                      <a:tailEnd type="none" w="med" len="med"/>
                    </a:lnL>
                    <a:lnR w="6350" cap="flat" cmpd="sng" algn="ctr">
                      <a:solidFill>
                        <a:srgbClr val="D6E3EA"/>
                      </a:solidFill>
                      <a:prstDash val="solid"/>
                      <a:round/>
                      <a:headEnd type="none" w="med" len="med"/>
                      <a:tailEnd type="none" w="med" len="med"/>
                    </a:lnR>
                    <a:lnT w="6350" cap="flat" cmpd="sng" algn="ctr">
                      <a:solidFill>
                        <a:srgbClr val="D6E3EA"/>
                      </a:solidFill>
                      <a:prstDash val="solid"/>
                      <a:round/>
                      <a:headEnd type="none" w="med" len="med"/>
                      <a:tailEnd type="none" w="med" len="med"/>
                    </a:lnT>
                    <a:lnB w="6350" cap="flat" cmpd="sng" algn="ctr">
                      <a:solidFill>
                        <a:srgbClr val="D6E3EA"/>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733"/>
                          </a:solidFill>
                          <a:latin typeface="Calibri" pitchFamily="34" charset="0"/>
                          <a:ea typeface="Calibri" pitchFamily="34" charset="-122"/>
                          <a:cs typeface="Calibri" pitchFamily="34" charset="-120"/>
                        </a:rPr>
                        <a:t>10.78%</a:t>
                      </a:r>
                      <a:endParaRPr lang="en-US" sz="1400" dirty="0">
                        <a:latin typeface="Calibri" charset="0"/>
                        <a:ea typeface="Calibri" charset="0"/>
                        <a:cs typeface="Calibri" charset="0"/>
                      </a:endParaRPr>
                    </a:p>
                  </a:txBody>
                  <a:tcPr marL="91440" marR="91440" marT="45720" marB="45720" anchor="ctr">
                    <a:lnL w="6350" cap="flat" cmpd="sng" algn="ctr">
                      <a:solidFill>
                        <a:srgbClr val="D6E3EA"/>
                      </a:solidFill>
                      <a:prstDash val="solid"/>
                      <a:round/>
                      <a:headEnd type="none" w="med" len="med"/>
                      <a:tailEnd type="none" w="med" len="med"/>
                    </a:lnL>
                    <a:lnR w="6350" cap="flat" cmpd="sng" algn="ctr">
                      <a:solidFill>
                        <a:srgbClr val="D6E3EA"/>
                      </a:solidFill>
                      <a:prstDash val="solid"/>
                      <a:round/>
                      <a:headEnd type="none" w="med" len="med"/>
                      <a:tailEnd type="none" w="med" len="med"/>
                    </a:lnR>
                    <a:lnT w="6350" cap="flat" cmpd="sng" algn="ctr">
                      <a:solidFill>
                        <a:srgbClr val="D6E3EA"/>
                      </a:solidFill>
                      <a:prstDash val="solid"/>
                      <a:round/>
                      <a:headEnd type="none" w="med" len="med"/>
                      <a:tailEnd type="none" w="med" len="med"/>
                    </a:lnT>
                    <a:lnB w="6350" cap="flat" cmpd="sng" algn="ctr">
                      <a:solidFill>
                        <a:srgbClr val="D6E3EA"/>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733"/>
                          </a:solidFill>
                          <a:latin typeface="Calibri" pitchFamily="34" charset="0"/>
                          <a:ea typeface="Calibri" pitchFamily="34" charset="-122"/>
                          <a:cs typeface="Calibri" pitchFamily="34" charset="-120"/>
                        </a:rPr>
                        <a:t>5.40%</a:t>
                      </a:r>
                      <a:endParaRPr lang="en-US" sz="1400" dirty="0">
                        <a:latin typeface="Calibri" charset="0"/>
                        <a:ea typeface="Calibri" charset="0"/>
                        <a:cs typeface="Calibri" charset="0"/>
                      </a:endParaRPr>
                    </a:p>
                  </a:txBody>
                  <a:tcPr marL="91440" marR="91440" marT="45720" marB="45720" anchor="ctr">
                    <a:lnL w="6350" cap="flat" cmpd="sng" algn="ctr">
                      <a:solidFill>
                        <a:srgbClr val="D6E3EA"/>
                      </a:solidFill>
                      <a:prstDash val="solid"/>
                      <a:round/>
                      <a:headEnd type="none" w="med" len="med"/>
                      <a:tailEnd type="none" w="med" len="med"/>
                    </a:lnL>
                    <a:lnR w="6350" cap="flat" cmpd="sng" algn="ctr">
                      <a:solidFill>
                        <a:srgbClr val="D6E3EA"/>
                      </a:solidFill>
                      <a:prstDash val="solid"/>
                      <a:round/>
                      <a:headEnd type="none" w="med" len="med"/>
                      <a:tailEnd type="none" w="med" len="med"/>
                    </a:lnR>
                    <a:lnT w="6350" cap="flat" cmpd="sng" algn="ctr">
                      <a:solidFill>
                        <a:srgbClr val="D6E3EA"/>
                      </a:solidFill>
                      <a:prstDash val="solid"/>
                      <a:round/>
                      <a:headEnd type="none" w="med" len="med"/>
                      <a:tailEnd type="none" w="med" len="med"/>
                    </a:lnT>
                    <a:lnB w="6350" cap="flat" cmpd="sng" algn="ctr">
                      <a:solidFill>
                        <a:srgbClr val="D6E3EA"/>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733"/>
                          </a:solidFill>
                          <a:latin typeface="Calibri" pitchFamily="34" charset="0"/>
                          <a:ea typeface="Calibri" pitchFamily="34" charset="-122"/>
                          <a:cs typeface="Calibri" pitchFamily="34" charset="-120"/>
                        </a:rPr>
                        <a:t>0.810</a:t>
                      </a:r>
                      <a:endParaRPr lang="en-US" sz="1400" dirty="0">
                        <a:latin typeface="Calibri" charset="0"/>
                        <a:ea typeface="Calibri" charset="0"/>
                        <a:cs typeface="Calibri" charset="0"/>
                      </a:endParaRPr>
                    </a:p>
                  </a:txBody>
                  <a:tcPr marL="91440" marR="91440" marT="45720" marB="45720" anchor="ctr">
                    <a:lnL w="6350" cap="flat" cmpd="sng" algn="ctr">
                      <a:solidFill>
                        <a:srgbClr val="D6E3EA"/>
                      </a:solidFill>
                      <a:prstDash val="solid"/>
                      <a:round/>
                      <a:headEnd type="none" w="med" len="med"/>
                      <a:tailEnd type="none" w="med" len="med"/>
                    </a:lnL>
                    <a:lnR w="6350" cap="flat" cmpd="sng" algn="ctr">
                      <a:solidFill>
                        <a:srgbClr val="D6E3EA"/>
                      </a:solidFill>
                      <a:prstDash val="solid"/>
                      <a:round/>
                      <a:headEnd type="none" w="med" len="med"/>
                      <a:tailEnd type="none" w="med" len="med"/>
                    </a:lnR>
                    <a:lnT w="6350" cap="flat" cmpd="sng" algn="ctr">
                      <a:solidFill>
                        <a:srgbClr val="D6E3EA"/>
                      </a:solidFill>
                      <a:prstDash val="solid"/>
                      <a:round/>
                      <a:headEnd type="none" w="med" len="med"/>
                      <a:tailEnd type="none" w="med" len="med"/>
                    </a:lnT>
                    <a:lnB w="6350" cap="flat" cmpd="sng" algn="ctr">
                      <a:solidFill>
                        <a:srgbClr val="D6E3EA"/>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733"/>
                          </a:solidFill>
                          <a:latin typeface="Calibri" pitchFamily="34" charset="0"/>
                          <a:ea typeface="Calibri" pitchFamily="34" charset="-122"/>
                          <a:cs typeface="Calibri" pitchFamily="34" charset="-120"/>
                        </a:rPr>
                        <a:t>68.24%</a:t>
                      </a:r>
                      <a:endParaRPr lang="en-US" sz="1400" dirty="0">
                        <a:latin typeface="Calibri" charset="0"/>
                        <a:ea typeface="Calibri" charset="0"/>
                        <a:cs typeface="Calibri" charset="0"/>
                      </a:endParaRPr>
                    </a:p>
                  </a:txBody>
                  <a:tcPr marL="91440" marR="91440" marT="45720" marB="45720" anchor="ctr">
                    <a:lnL w="6350" cap="flat" cmpd="sng" algn="ctr">
                      <a:solidFill>
                        <a:srgbClr val="D6E3EA"/>
                      </a:solidFill>
                      <a:prstDash val="solid"/>
                      <a:round/>
                      <a:headEnd type="none" w="med" len="med"/>
                      <a:tailEnd type="none" w="med" len="med"/>
                    </a:lnL>
                    <a:lnR w="6350" cap="flat" cmpd="sng" algn="ctr">
                      <a:solidFill>
                        <a:srgbClr val="D6E3EA"/>
                      </a:solidFill>
                      <a:prstDash val="solid"/>
                      <a:round/>
                      <a:headEnd type="none" w="med" len="med"/>
                      <a:tailEnd type="none" w="med" len="med"/>
                    </a:lnR>
                    <a:lnT w="6350" cap="flat" cmpd="sng" algn="ctr">
                      <a:solidFill>
                        <a:srgbClr val="D6E3EA"/>
                      </a:solidFill>
                      <a:prstDash val="solid"/>
                      <a:round/>
                      <a:headEnd type="none" w="med" len="med"/>
                      <a:tailEnd type="none" w="med" len="med"/>
                    </a:lnT>
                    <a:lnB w="6350" cap="flat" cmpd="sng" algn="ctr">
                      <a:solidFill>
                        <a:srgbClr val="D6E3EA"/>
                      </a:solidFill>
                      <a:prstDash val="solid"/>
                      <a:round/>
                      <a:headEnd type="none" w="med" len="med"/>
                      <a:tailEnd type="none" w="med" len="med"/>
                    </a:lnB>
                    <a:solidFill>
                      <a:srgbClr val="FFFFFF"/>
                    </a:solidFill>
                  </a:tcPr>
                </a:tc>
              </a:tr>
            </a:tbl>
          </a:graphicData>
        </a:graphic>
      </p:graphicFrame>
      <p:sp>
        <p:nvSpPr>
          <p:cNvPr id="17" name="Text 14"/>
          <p:cNvSpPr/>
          <p:nvPr/>
        </p:nvSpPr>
        <p:spPr>
          <a:xfrm>
            <a:off x="548640" y="5806440"/>
            <a:ext cx="10972800" cy="365760"/>
          </a:xfrm>
          <a:prstGeom prst="rect">
            <a:avLst/>
          </a:prstGeom>
          <a:noFill/>
          <a:ln/>
        </p:spPr>
        <p:txBody>
          <a:bodyPr wrap="square" rtlCol="0" anchor="ctr"/>
          <a:lstStyle/>
          <a:p>
            <a:pPr indent="0" marL="0">
              <a:buNone/>
            </a:pPr>
            <a:r>
              <a:rPr lang="en-US" sz="1250" b="1" dirty="0">
                <a:solidFill>
                  <a:srgbClr val="B85042"/>
                </a:solidFill>
                <a:latin typeface="Calibri" pitchFamily="34" charset="0"/>
                <a:ea typeface="Calibri" pitchFamily="34" charset="-122"/>
                <a:cs typeface="Calibri" pitchFamily="34" charset="-120"/>
              </a:rPr>
              <a:t>Zero-shot baseline (untuned small LM): about 280% WER.</a:t>
            </a:r>
            <a:pPr indent="0" marL="0">
              <a:buNone/>
            </a:pPr>
            <a:r>
              <a:rPr lang="en-US" sz="1250" dirty="0">
                <a:solidFill>
                  <a:srgbClr val="5A6B78"/>
                </a:solidFill>
                <a:latin typeface="Calibri" pitchFamily="34" charset="0"/>
                <a:ea typeface="Calibri" pitchFamily="34" charset="-122"/>
                <a:cs typeface="Calibri" pitchFamily="34" charset="-120"/>
              </a:rPr>
              <a:t>  The task is not solvable without fine-tuning.</a:t>
            </a:r>
            <a:endParaRPr lang="en-US" sz="1250" dirty="0"/>
          </a:p>
        </p:txBody>
      </p:sp>
      <p:sp>
        <p:nvSpPr>
          <p:cNvPr id="18" name="Text 15"/>
          <p:cNvSpPr/>
          <p:nvPr/>
        </p:nvSpPr>
        <p:spPr>
          <a:xfrm>
            <a:off x="457200" y="6446520"/>
            <a:ext cx="8229600" cy="274320"/>
          </a:xfrm>
          <a:prstGeom prst="rect">
            <a:avLst/>
          </a:prstGeom>
          <a:noFill/>
          <a:ln/>
        </p:spPr>
        <p:txBody>
          <a:bodyPr wrap="square" rtlCol="0" anchor="ctr"/>
          <a:lstStyle/>
          <a:p>
            <a:pPr indent="0" marL="0">
              <a:buNone/>
            </a:pPr>
            <a:r>
              <a:rPr lang="en-US" sz="800" dirty="0">
                <a:solidFill>
                  <a:srgbClr val="5A6B78"/>
                </a:solidFill>
                <a:latin typeface="Calibri" pitchFamily="34" charset="0"/>
                <a:ea typeface="Calibri" pitchFamily="34" charset="-122"/>
                <a:cs typeface="Calibri" pitchFamily="34" charset="-120"/>
              </a:rPr>
              <a:t>P2T Decoder · Project update · 8 July 2026</a:t>
            </a:r>
            <a:endParaRPr lang="en-US" sz="800" dirty="0"/>
          </a:p>
        </p:txBody>
      </p:sp>
      <p:sp>
        <p:nvSpPr>
          <p:cNvPr id="19" name="Text 16"/>
          <p:cNvSpPr/>
          <p:nvPr/>
        </p:nvSpPr>
        <p:spPr>
          <a:xfrm>
            <a:off x="11338560" y="6446520"/>
            <a:ext cx="457200" cy="274320"/>
          </a:xfrm>
          <a:prstGeom prst="rect">
            <a:avLst/>
          </a:prstGeom>
          <a:noFill/>
          <a:ln/>
        </p:spPr>
        <p:txBody>
          <a:bodyPr wrap="square" rtlCol="0" anchor="ctr"/>
          <a:lstStyle/>
          <a:p>
            <a:pPr algn="r" indent="0" marL="0">
              <a:buNone/>
            </a:pPr>
            <a:r>
              <a:rPr lang="en-US" sz="800" dirty="0">
                <a:solidFill>
                  <a:srgbClr val="5A6B78"/>
                </a:solidFill>
                <a:latin typeface="Calibri" pitchFamily="34" charset="0"/>
                <a:ea typeface="Calibri" pitchFamily="34" charset="-122"/>
                <a:cs typeface="Calibri"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CENTRAL RESEARCH QUESTION</a:t>
            </a:r>
            <a:endParaRPr lang="en-US" sz="1200" dirty="0"/>
          </a:p>
        </p:txBody>
      </p:sp>
      <p:sp>
        <p:nvSpPr>
          <p:cNvPr id="3" name="Text 1"/>
          <p:cNvSpPr/>
          <p:nvPr/>
        </p:nvSpPr>
        <p:spPr>
          <a:xfrm>
            <a:off x="548640" y="658368"/>
            <a:ext cx="11064240" cy="640080"/>
          </a:xfrm>
          <a:prstGeom prst="rect">
            <a:avLst/>
          </a:prstGeom>
          <a:noFill/>
          <a:ln/>
        </p:spPr>
        <p:txBody>
          <a:bodyPr wrap="square" rtlCol="0" anchor="ctr"/>
          <a:lstStyle/>
          <a:p>
            <a:pPr indent="0" marL="0">
              <a:buNone/>
            </a:pPr>
            <a:r>
              <a:rPr lang="en-US" sz="3000" b="1" dirty="0">
                <a:solidFill>
                  <a:srgbClr val="065A82"/>
                </a:solidFill>
                <a:latin typeface="Cambria" pitchFamily="34" charset="0"/>
                <a:ea typeface="Cambria" pitchFamily="34" charset="-122"/>
                <a:cs typeface="Cambria" pitchFamily="34" charset="-120"/>
              </a:rPr>
              <a:t>The homophone gap is small and inconsistent</a:t>
            </a:r>
            <a:endParaRPr lang="en-US" sz="3000" dirty="0"/>
          </a:p>
        </p:txBody>
      </p:sp>
      <p:graphicFrame>
        <p:nvGraphicFramePr>
          <p:cNvPr id="4" name="Chart 0" descr=""/>
          <p:cNvGraphicFramePr/>
          <p:nvPr/>
        </p:nvGraphicFramePr>
        <p:xfrm>
          <a:off x="548640" y="1600200"/>
          <a:ext cx="6492240" cy="44805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315200" y="1691640"/>
            <a:ext cx="4297680" cy="4297680"/>
          </a:xfrm>
          <a:prstGeom prst="roundRect">
            <a:avLst>
              <a:gd name="adj" fmla="val 1277"/>
            </a:avLst>
          </a:prstGeom>
          <a:solidFill>
            <a:srgbClr val="EAF3F7"/>
          </a:solidFill>
          <a:ln/>
          <a:effectLst>
            <a:outerShdw sx="100000" sy="100000" kx="0" ky="0" algn="bl" rotWithShape="0" blurRad="88900" dist="25400" dir="5400000">
              <a:srgbClr val="000000">
                <a:alpha val="12000"/>
              </a:srgbClr>
            </a:outerShdw>
          </a:effectLst>
        </p:spPr>
      </p:sp>
      <p:sp>
        <p:nvSpPr>
          <p:cNvPr id="6" name="Text 3"/>
          <p:cNvSpPr/>
          <p:nvPr/>
        </p:nvSpPr>
        <p:spPr>
          <a:xfrm>
            <a:off x="7589520" y="1920240"/>
            <a:ext cx="3749040" cy="365760"/>
          </a:xfrm>
          <a:prstGeom prst="rect">
            <a:avLst/>
          </a:prstGeom>
          <a:noFill/>
          <a:ln/>
        </p:spPr>
        <p:txBody>
          <a:bodyPr wrap="square" rtlCol="0" anchor="ctr"/>
          <a:lstStyle/>
          <a:p>
            <a:pPr indent="0" marL="0">
              <a:buNone/>
            </a:pPr>
            <a:r>
              <a:rPr lang="en-US" sz="1600" b="1" dirty="0">
                <a:solidFill>
                  <a:srgbClr val="065A82"/>
                </a:solidFill>
                <a:latin typeface="Calibri" pitchFamily="34" charset="0"/>
                <a:ea typeface="Calibri" pitchFamily="34" charset="-122"/>
                <a:cs typeface="Calibri" pitchFamily="34" charset="-120"/>
              </a:rPr>
              <a:t>What this means</a:t>
            </a:r>
            <a:endParaRPr lang="en-US" sz="1600" dirty="0"/>
          </a:p>
        </p:txBody>
      </p:sp>
      <p:sp>
        <p:nvSpPr>
          <p:cNvPr id="7" name="Text 4"/>
          <p:cNvSpPr/>
          <p:nvPr/>
        </p:nvSpPr>
        <p:spPr>
          <a:xfrm>
            <a:off x="7589520" y="2331720"/>
            <a:ext cx="3794760" cy="1371600"/>
          </a:xfrm>
          <a:prstGeom prst="rect">
            <a:avLst/>
          </a:prstGeom>
          <a:noFill/>
          <a:ln/>
        </p:spPr>
        <p:txBody>
          <a:bodyPr wrap="square" rtlCol="0" anchor="ctr"/>
          <a:lstStyle/>
          <a:p>
            <a:pPr indent="0" marL="0">
              <a:spcAft>
                <a:spcPts val="800"/>
              </a:spcAft>
              <a:buNone/>
            </a:pPr>
            <a:r>
              <a:rPr lang="en-US" sz="1350" dirty="0">
                <a:solidFill>
                  <a:srgbClr val="1B2733"/>
                </a:solidFill>
                <a:latin typeface="Calibri" pitchFamily="34" charset="0"/>
                <a:ea typeface="Calibri" pitchFamily="34" charset="-122"/>
                <a:cs typeface="Calibri" pitchFamily="34" charset="-120"/>
              </a:rPr>
              <a:t>WER is slightly </a:t>
            </a:r>
            <a:pPr indent="0" marL="0">
              <a:spcAft>
                <a:spcPts val="800"/>
              </a:spcAft>
              <a:buNone/>
            </a:pPr>
            <a:r>
              <a:rPr lang="en-US" sz="1350" b="1" i="1" dirty="0">
                <a:solidFill>
                  <a:srgbClr val="1B2733"/>
                </a:solidFill>
                <a:latin typeface="Calibri" pitchFamily="34" charset="0"/>
                <a:ea typeface="Calibri" pitchFamily="34" charset="-122"/>
                <a:cs typeface="Calibri" pitchFamily="34" charset="-120"/>
              </a:rPr>
              <a:t>lower</a:t>
            </a:r>
            <a:pPr indent="0" marL="0">
              <a:spcAft>
                <a:spcPts val="800"/>
              </a:spcAft>
              <a:buNone/>
            </a:pPr>
            <a:r>
              <a:rPr lang="en-US" sz="1350" dirty="0">
                <a:solidFill>
                  <a:srgbClr val="1B2733"/>
                </a:solidFill>
                <a:latin typeface="Calibri" pitchFamily="34" charset="0"/>
                <a:ea typeface="Calibri" pitchFamily="34" charset="-122"/>
                <a:cs typeface="Calibri" pitchFamily="34" charset="-120"/>
              </a:rPr>
              <a:t> on homophone sentences (9.32 vs 10.78).</a:t>
            </a:r>
            <a:endParaRPr lang="en-US" sz="1350" dirty="0"/>
          </a:p>
          <a:p>
            <a:pPr indent="0" marL="0">
              <a:spcAft>
                <a:spcPts val="800"/>
              </a:spcAft>
              <a:buNone/>
            </a:pPr>
            <a:r>
              <a:rPr lang="en-US" sz="1350" dirty="0">
                <a:solidFill>
                  <a:srgbClr val="1B2733"/>
                </a:solidFill>
                <a:latin typeface="Calibri" pitchFamily="34" charset="0"/>
                <a:ea typeface="Calibri" pitchFamily="34" charset="-122"/>
                <a:cs typeface="Calibri" pitchFamily="34" charset="-120"/>
              </a:rPr>
              <a:t>Exact match is slightly </a:t>
            </a:r>
            <a:pPr indent="0" marL="0">
              <a:spcAft>
                <a:spcPts val="800"/>
              </a:spcAft>
              <a:buNone/>
            </a:pPr>
            <a:r>
              <a:rPr lang="en-US" sz="1350" b="1" i="1" dirty="0">
                <a:solidFill>
                  <a:srgbClr val="1B2733"/>
                </a:solidFill>
                <a:latin typeface="Calibri" pitchFamily="34" charset="0"/>
                <a:ea typeface="Calibri" pitchFamily="34" charset="-122"/>
                <a:cs typeface="Calibri" pitchFamily="34" charset="-120"/>
              </a:rPr>
              <a:t>lower</a:t>
            </a:r>
            <a:pPr indent="0" marL="0">
              <a:spcAft>
                <a:spcPts val="800"/>
              </a:spcAft>
              <a:buNone/>
            </a:pPr>
            <a:r>
              <a:rPr lang="en-US" sz="1350" dirty="0">
                <a:solidFill>
                  <a:srgbClr val="1B2733"/>
                </a:solidFill>
                <a:latin typeface="Calibri" pitchFamily="34" charset="0"/>
                <a:ea typeface="Calibri" pitchFamily="34" charset="-122"/>
                <a:cs typeface="Calibri" pitchFamily="34" charset="-120"/>
              </a:rPr>
              <a:t> on the non-homophone ones (64.67 vs 68.24).</a:t>
            </a:r>
            <a:endParaRPr lang="en-US" sz="1350" dirty="0"/>
          </a:p>
        </p:txBody>
      </p:sp>
      <p:sp>
        <p:nvSpPr>
          <p:cNvPr id="8" name="Text 5"/>
          <p:cNvSpPr/>
          <p:nvPr/>
        </p:nvSpPr>
        <p:spPr>
          <a:xfrm>
            <a:off x="7589520" y="3840480"/>
            <a:ext cx="3794760" cy="1463040"/>
          </a:xfrm>
          <a:prstGeom prst="rect">
            <a:avLst/>
          </a:prstGeom>
          <a:noFill/>
          <a:ln/>
        </p:spPr>
        <p:txBody>
          <a:bodyPr wrap="square" rtlCol="0" anchor="ctr"/>
          <a:lstStyle/>
          <a:p>
            <a:pPr indent="0" marL="0">
              <a:buNone/>
            </a:pPr>
            <a:r>
              <a:rPr lang="en-US" sz="1400" b="1" dirty="0">
                <a:solidFill>
                  <a:srgbClr val="065A82"/>
                </a:solidFill>
                <a:latin typeface="Calibri" pitchFamily="34" charset="0"/>
                <a:ea typeface="Calibri" pitchFamily="34" charset="-122"/>
                <a:cs typeface="Calibri" pitchFamily="34" charset="-120"/>
              </a:rPr>
              <a:t>Takeaway: </a:t>
            </a:r>
            <a:pPr indent="0" marL="0">
              <a:buNone/>
            </a:pPr>
            <a:r>
              <a:rPr lang="en-US" sz="1400" dirty="0">
                <a:solidFill>
                  <a:srgbClr val="1B2733"/>
                </a:solidFill>
                <a:latin typeface="Calibri" pitchFamily="34" charset="0"/>
                <a:ea typeface="Calibri" pitchFamily="34" charset="-122"/>
                <a:cs typeface="Calibri" pitchFamily="34" charset="-120"/>
              </a:rPr>
              <a:t>at this scale, homophone-heavy sentences are not much harder. The language model resolves most of the ambiguity from context.</a:t>
            </a:r>
            <a:endParaRPr lang="en-US" sz="1400" dirty="0"/>
          </a:p>
        </p:txBody>
      </p:sp>
      <p:sp>
        <p:nvSpPr>
          <p:cNvPr id="9" name="Text 6"/>
          <p:cNvSpPr/>
          <p:nvPr/>
        </p:nvSpPr>
        <p:spPr>
          <a:xfrm>
            <a:off x="7589520" y="5440680"/>
            <a:ext cx="3794760" cy="457200"/>
          </a:xfrm>
          <a:prstGeom prst="rect">
            <a:avLst/>
          </a:prstGeom>
          <a:noFill/>
          <a:ln/>
        </p:spPr>
        <p:txBody>
          <a:bodyPr wrap="square" rtlCol="0" anchor="ctr"/>
          <a:lstStyle/>
          <a:p>
            <a:pPr indent="0" marL="0">
              <a:buNone/>
            </a:pPr>
            <a:r>
              <a:rPr lang="en-US" sz="1100" i="1" dirty="0">
                <a:solidFill>
                  <a:srgbClr val="B85042"/>
                </a:solidFill>
                <a:latin typeface="Calibri" pitchFamily="34" charset="0"/>
                <a:ea typeface="Calibri" pitchFamily="34" charset="-122"/>
                <a:cs typeface="Calibri" pitchFamily="34" charset="-120"/>
              </a:rPr>
              <a:t>Not yet attributable to the contrastive loss: no ablation has been run.</a:t>
            </a:r>
            <a:endParaRPr lang="en-US" sz="1100" dirty="0"/>
          </a:p>
        </p:txBody>
      </p:sp>
      <p:sp>
        <p:nvSpPr>
          <p:cNvPr id="10" name="Text 7"/>
          <p:cNvSpPr/>
          <p:nvPr/>
        </p:nvSpPr>
        <p:spPr>
          <a:xfrm>
            <a:off x="457200" y="6446520"/>
            <a:ext cx="8229600" cy="274320"/>
          </a:xfrm>
          <a:prstGeom prst="rect">
            <a:avLst/>
          </a:prstGeom>
          <a:noFill/>
          <a:ln/>
        </p:spPr>
        <p:txBody>
          <a:bodyPr wrap="square" rtlCol="0" anchor="ctr"/>
          <a:lstStyle/>
          <a:p>
            <a:pPr indent="0" marL="0">
              <a:buNone/>
            </a:pPr>
            <a:r>
              <a:rPr lang="en-US" sz="800" dirty="0">
                <a:solidFill>
                  <a:srgbClr val="5A6B78"/>
                </a:solidFill>
                <a:latin typeface="Calibri" pitchFamily="34" charset="0"/>
                <a:ea typeface="Calibri" pitchFamily="34" charset="-122"/>
                <a:cs typeface="Calibri" pitchFamily="34" charset="-120"/>
              </a:rPr>
              <a:t>P2T Decoder · Project update · 8 July 2026</a:t>
            </a:r>
            <a:endParaRPr lang="en-US" sz="800" dirty="0"/>
          </a:p>
        </p:txBody>
      </p:sp>
      <p:sp>
        <p:nvSpPr>
          <p:cNvPr id="11" name="Text 8"/>
          <p:cNvSpPr/>
          <p:nvPr/>
        </p:nvSpPr>
        <p:spPr>
          <a:xfrm>
            <a:off x="11338560" y="6446520"/>
            <a:ext cx="457200" cy="274320"/>
          </a:xfrm>
          <a:prstGeom prst="rect">
            <a:avLst/>
          </a:prstGeom>
          <a:noFill/>
          <a:ln/>
        </p:spPr>
        <p:txBody>
          <a:bodyPr wrap="square" rtlCol="0" anchor="ctr"/>
          <a:lstStyle/>
          <a:p>
            <a:pPr algn="r" indent="0" marL="0">
              <a:buNone/>
            </a:pPr>
            <a:r>
              <a:rPr lang="en-US" sz="800" dirty="0">
                <a:solidFill>
                  <a:srgbClr val="5A6B78"/>
                </a:solidFill>
                <a:latin typeface="Calibri" pitchFamily="34" charset="0"/>
                <a:ea typeface="Calibri" pitchFamily="34" charset="-122"/>
                <a:cs typeface="Calibri"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KNOWN LIMITATIONS</a:t>
            </a:r>
            <a:endParaRPr lang="en-US" sz="1200" dirty="0"/>
          </a:p>
        </p:txBody>
      </p:sp>
      <p:sp>
        <p:nvSpPr>
          <p:cNvPr id="3" name="Text 1"/>
          <p:cNvSpPr/>
          <p:nvPr/>
        </p:nvSpPr>
        <p:spPr>
          <a:xfrm>
            <a:off x="548640" y="658368"/>
            <a:ext cx="11064240" cy="640080"/>
          </a:xfrm>
          <a:prstGeom prst="rect">
            <a:avLst/>
          </a:prstGeom>
          <a:noFill/>
          <a:ln/>
        </p:spPr>
        <p:txBody>
          <a:bodyPr wrap="square" rtlCol="0" anchor="ctr"/>
          <a:lstStyle/>
          <a:p>
            <a:pPr indent="0" marL="0">
              <a:buNone/>
            </a:pPr>
            <a:r>
              <a:rPr lang="en-US" sz="3000" b="1" dirty="0">
                <a:solidFill>
                  <a:srgbClr val="065A82"/>
                </a:solidFill>
                <a:latin typeface="Cambria" pitchFamily="34" charset="0"/>
                <a:ea typeface="Cambria" pitchFamily="34" charset="-122"/>
                <a:cs typeface="Cambria" pitchFamily="34" charset="-120"/>
              </a:rPr>
              <a:t>Caveats to state up front</a:t>
            </a:r>
            <a:endParaRPr lang="en-US" sz="3000" dirty="0"/>
          </a:p>
        </p:txBody>
      </p:sp>
      <p:sp>
        <p:nvSpPr>
          <p:cNvPr id="4" name="Shape 2"/>
          <p:cNvSpPr/>
          <p:nvPr/>
        </p:nvSpPr>
        <p:spPr>
          <a:xfrm>
            <a:off x="548640" y="1691640"/>
            <a:ext cx="11064240" cy="1280160"/>
          </a:xfrm>
          <a:prstGeom prst="roundRect">
            <a:avLst>
              <a:gd name="adj" fmla="val 4286"/>
            </a:avLst>
          </a:prstGeom>
          <a:solidFill>
            <a:srgbClr val="FFFFFF"/>
          </a:solidFill>
          <a:ln w="12700">
            <a:solidFill>
              <a:srgbClr val="E1D3CF"/>
            </a:solidFill>
            <a:prstDash val="solid"/>
          </a:ln>
          <a:effectLst>
            <a:outerShdw sx="100000" sy="100000" kx="0" ky="0" algn="bl" rotWithShape="0" blurRad="88900" dist="25400" dir="5400000">
              <a:srgbClr val="000000">
                <a:alpha val="12000"/>
              </a:srgbClr>
            </a:outerShdw>
          </a:effectLst>
        </p:spPr>
      </p:sp>
      <p:sp>
        <p:nvSpPr>
          <p:cNvPr id="5" name="Shape 3"/>
          <p:cNvSpPr/>
          <p:nvPr/>
        </p:nvSpPr>
        <p:spPr>
          <a:xfrm>
            <a:off x="822960" y="2103120"/>
            <a:ext cx="457200" cy="457200"/>
          </a:xfrm>
          <a:prstGeom prst="ellipse">
            <a:avLst/>
          </a:prstGeom>
          <a:solidFill>
            <a:srgbClr val="B85042"/>
          </a:solidFill>
          <a:ln/>
        </p:spPr>
      </p:sp>
      <p:sp>
        <p:nvSpPr>
          <p:cNvPr id="6" name="Text 4"/>
          <p:cNvSpPr/>
          <p:nvPr/>
        </p:nvSpPr>
        <p:spPr>
          <a:xfrm>
            <a:off x="822960" y="2103120"/>
            <a:ext cx="457200" cy="457200"/>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7" name="Text 5"/>
          <p:cNvSpPr/>
          <p:nvPr/>
        </p:nvSpPr>
        <p:spPr>
          <a:xfrm>
            <a:off x="1554480" y="1911096"/>
            <a:ext cx="9692640" cy="411480"/>
          </a:xfrm>
          <a:prstGeom prst="rect">
            <a:avLst/>
          </a:prstGeom>
          <a:noFill/>
          <a:ln/>
        </p:spPr>
        <p:txBody>
          <a:bodyPr wrap="square" rtlCol="0" anchor="ctr"/>
          <a:lstStyle/>
          <a:p>
            <a:pPr indent="0" marL="0">
              <a:buNone/>
            </a:pPr>
            <a:r>
              <a:rPr lang="en-US" sz="1800" b="1" dirty="0">
                <a:solidFill>
                  <a:srgbClr val="B85042"/>
                </a:solidFill>
                <a:latin typeface="Calibri" pitchFamily="34" charset="0"/>
                <a:ea typeface="Calibri" pitchFamily="34" charset="-122"/>
                <a:cs typeface="Calibri" pitchFamily="34" charset="-120"/>
              </a:rPr>
              <a:t>No separate test set</a:t>
            </a:r>
            <a:endParaRPr lang="en-US" sz="1800" dirty="0"/>
          </a:p>
        </p:txBody>
      </p:sp>
      <p:sp>
        <p:nvSpPr>
          <p:cNvPr id="8" name="Text 6"/>
          <p:cNvSpPr/>
          <p:nvPr/>
        </p:nvSpPr>
        <p:spPr>
          <a:xfrm>
            <a:off x="1554480" y="2313432"/>
            <a:ext cx="9692640" cy="502920"/>
          </a:xfrm>
          <a:prstGeom prst="rect">
            <a:avLst/>
          </a:prstGeom>
          <a:noFill/>
          <a:ln/>
        </p:spPr>
        <p:txBody>
          <a:bodyPr wrap="square" rtlCol="0" anchor="ctr"/>
          <a:lstStyle/>
          <a:p>
            <a:pPr indent="0" marL="0">
              <a:buNone/>
            </a:pPr>
            <a:r>
              <a:rPr lang="en-US" sz="1350" dirty="0">
                <a:solidFill>
                  <a:srgbClr val="1B2733"/>
                </a:solidFill>
                <a:latin typeface="Calibri" pitchFamily="34" charset="0"/>
                <a:ea typeface="Calibri" pitchFamily="34" charset="-122"/>
                <a:cs typeface="Calibri" pitchFamily="34" charset="-120"/>
              </a:rPr>
              <a:t>Scores come from the 20% validation split, so they may overstate true generalisation.</a:t>
            </a:r>
            <a:endParaRPr lang="en-US" sz="1350" dirty="0"/>
          </a:p>
        </p:txBody>
      </p:sp>
      <p:sp>
        <p:nvSpPr>
          <p:cNvPr id="9" name="Shape 7"/>
          <p:cNvSpPr/>
          <p:nvPr/>
        </p:nvSpPr>
        <p:spPr>
          <a:xfrm>
            <a:off x="548640" y="3154680"/>
            <a:ext cx="11064240" cy="1280160"/>
          </a:xfrm>
          <a:prstGeom prst="roundRect">
            <a:avLst>
              <a:gd name="adj" fmla="val 4286"/>
            </a:avLst>
          </a:prstGeom>
          <a:solidFill>
            <a:srgbClr val="FFFFFF"/>
          </a:solidFill>
          <a:ln w="12700">
            <a:solidFill>
              <a:srgbClr val="E1D3CF"/>
            </a:solidFill>
            <a:prstDash val="solid"/>
          </a:ln>
          <a:effectLst>
            <a:outerShdw sx="100000" sy="100000" kx="0" ky="0" algn="bl" rotWithShape="0" blurRad="88900" dist="25400" dir="5400000">
              <a:srgbClr val="000000">
                <a:alpha val="12000"/>
              </a:srgbClr>
            </a:outerShdw>
          </a:effectLst>
        </p:spPr>
      </p:sp>
      <p:sp>
        <p:nvSpPr>
          <p:cNvPr id="10" name="Shape 8"/>
          <p:cNvSpPr/>
          <p:nvPr/>
        </p:nvSpPr>
        <p:spPr>
          <a:xfrm>
            <a:off x="822960" y="3566160"/>
            <a:ext cx="457200" cy="457200"/>
          </a:xfrm>
          <a:prstGeom prst="ellipse">
            <a:avLst/>
          </a:prstGeom>
          <a:solidFill>
            <a:srgbClr val="B85042"/>
          </a:solidFill>
          <a:ln/>
        </p:spPr>
      </p:sp>
      <p:sp>
        <p:nvSpPr>
          <p:cNvPr id="11" name="Text 9"/>
          <p:cNvSpPr/>
          <p:nvPr/>
        </p:nvSpPr>
        <p:spPr>
          <a:xfrm>
            <a:off x="822960" y="3566160"/>
            <a:ext cx="457200" cy="457200"/>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12" name="Text 10"/>
          <p:cNvSpPr/>
          <p:nvPr/>
        </p:nvSpPr>
        <p:spPr>
          <a:xfrm>
            <a:off x="1554480" y="3374136"/>
            <a:ext cx="9692640" cy="411480"/>
          </a:xfrm>
          <a:prstGeom prst="rect">
            <a:avLst/>
          </a:prstGeom>
          <a:noFill/>
          <a:ln/>
        </p:spPr>
        <p:txBody>
          <a:bodyPr wrap="square" rtlCol="0" anchor="ctr"/>
          <a:lstStyle/>
          <a:p>
            <a:pPr indent="0" marL="0">
              <a:buNone/>
            </a:pPr>
            <a:r>
              <a:rPr lang="en-US" sz="1800" b="1" dirty="0">
                <a:solidFill>
                  <a:srgbClr val="B85042"/>
                </a:solidFill>
                <a:latin typeface="Calibri" pitchFamily="34" charset="0"/>
                <a:ea typeface="Calibri" pitchFamily="34" charset="-122"/>
                <a:cs typeface="Calibri" pitchFamily="34" charset="-120"/>
              </a:rPr>
              <a:t>No ablation yet</a:t>
            </a:r>
            <a:endParaRPr lang="en-US" sz="1800" dirty="0"/>
          </a:p>
        </p:txBody>
      </p:sp>
      <p:sp>
        <p:nvSpPr>
          <p:cNvPr id="13" name="Text 11"/>
          <p:cNvSpPr/>
          <p:nvPr/>
        </p:nvSpPr>
        <p:spPr>
          <a:xfrm>
            <a:off x="1554480" y="3776472"/>
            <a:ext cx="9692640" cy="502920"/>
          </a:xfrm>
          <a:prstGeom prst="rect">
            <a:avLst/>
          </a:prstGeom>
          <a:noFill/>
          <a:ln/>
        </p:spPr>
        <p:txBody>
          <a:bodyPr wrap="square" rtlCol="0" anchor="ctr"/>
          <a:lstStyle/>
          <a:p>
            <a:pPr indent="0" marL="0">
              <a:buNone/>
            </a:pPr>
            <a:r>
              <a:rPr lang="en-US" sz="1350" dirty="0">
                <a:solidFill>
                  <a:srgbClr val="1B2733"/>
                </a:solidFill>
                <a:latin typeface="Calibri" pitchFamily="34" charset="0"/>
                <a:ea typeface="Calibri" pitchFamily="34" charset="-122"/>
                <a:cs typeface="Calibri" pitchFamily="34" charset="-120"/>
              </a:rPr>
              <a:t>Without a run that drops the contrastive loss, its effect on the small gap cannot be isolated.</a:t>
            </a:r>
            <a:endParaRPr lang="en-US" sz="1350" dirty="0"/>
          </a:p>
        </p:txBody>
      </p:sp>
      <p:sp>
        <p:nvSpPr>
          <p:cNvPr id="14" name="Shape 12"/>
          <p:cNvSpPr/>
          <p:nvPr/>
        </p:nvSpPr>
        <p:spPr>
          <a:xfrm>
            <a:off x="548640" y="4617720"/>
            <a:ext cx="11064240" cy="1280160"/>
          </a:xfrm>
          <a:prstGeom prst="roundRect">
            <a:avLst>
              <a:gd name="adj" fmla="val 4286"/>
            </a:avLst>
          </a:prstGeom>
          <a:solidFill>
            <a:srgbClr val="FFFFFF"/>
          </a:solidFill>
          <a:ln w="12700">
            <a:solidFill>
              <a:srgbClr val="E1D3CF"/>
            </a:solidFill>
            <a:prstDash val="solid"/>
          </a:ln>
          <a:effectLst>
            <a:outerShdw sx="100000" sy="100000" kx="0" ky="0" algn="bl" rotWithShape="0" blurRad="88900" dist="25400" dir="5400000">
              <a:srgbClr val="000000">
                <a:alpha val="12000"/>
              </a:srgbClr>
            </a:outerShdw>
          </a:effectLst>
        </p:spPr>
      </p:sp>
      <p:sp>
        <p:nvSpPr>
          <p:cNvPr id="15" name="Shape 13"/>
          <p:cNvSpPr/>
          <p:nvPr/>
        </p:nvSpPr>
        <p:spPr>
          <a:xfrm>
            <a:off x="822960" y="5029200"/>
            <a:ext cx="457200" cy="457200"/>
          </a:xfrm>
          <a:prstGeom prst="ellipse">
            <a:avLst/>
          </a:prstGeom>
          <a:solidFill>
            <a:srgbClr val="B85042"/>
          </a:solidFill>
          <a:ln/>
        </p:spPr>
      </p:sp>
      <p:sp>
        <p:nvSpPr>
          <p:cNvPr id="16" name="Text 14"/>
          <p:cNvSpPr/>
          <p:nvPr/>
        </p:nvSpPr>
        <p:spPr>
          <a:xfrm>
            <a:off x="822960" y="5029200"/>
            <a:ext cx="457200" cy="457200"/>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17" name="Text 15"/>
          <p:cNvSpPr/>
          <p:nvPr/>
        </p:nvSpPr>
        <p:spPr>
          <a:xfrm>
            <a:off x="1554480" y="4837176"/>
            <a:ext cx="9692640" cy="411480"/>
          </a:xfrm>
          <a:prstGeom prst="rect">
            <a:avLst/>
          </a:prstGeom>
          <a:noFill/>
          <a:ln/>
        </p:spPr>
        <p:txBody>
          <a:bodyPr wrap="square" rtlCol="0" anchor="ctr"/>
          <a:lstStyle/>
          <a:p>
            <a:pPr indent="0" marL="0">
              <a:buNone/>
            </a:pPr>
            <a:r>
              <a:rPr lang="en-US" sz="1800" b="1" dirty="0">
                <a:solidFill>
                  <a:srgbClr val="B85042"/>
                </a:solidFill>
                <a:latin typeface="Calibri" pitchFamily="34" charset="0"/>
                <a:ea typeface="Calibri" pitchFamily="34" charset="-122"/>
                <a:cs typeface="Calibri" pitchFamily="34" charset="-120"/>
              </a:rPr>
              <a:t>Hard-negative gap</a:t>
            </a:r>
            <a:endParaRPr lang="en-US" sz="1800" dirty="0"/>
          </a:p>
        </p:txBody>
      </p:sp>
      <p:sp>
        <p:nvSpPr>
          <p:cNvPr id="18" name="Text 16"/>
          <p:cNvSpPr/>
          <p:nvPr/>
        </p:nvSpPr>
        <p:spPr>
          <a:xfrm>
            <a:off x="1554480" y="5239512"/>
            <a:ext cx="9692640" cy="502920"/>
          </a:xfrm>
          <a:prstGeom prst="rect">
            <a:avLst/>
          </a:prstGeom>
          <a:noFill/>
          <a:ln/>
        </p:spPr>
        <p:txBody>
          <a:bodyPr wrap="square" rtlCol="0" anchor="ctr"/>
          <a:lstStyle/>
          <a:p>
            <a:pPr indent="0" marL="0">
              <a:buNone/>
            </a:pPr>
            <a:r>
              <a:rPr lang="en-US" sz="1350" dirty="0">
                <a:solidFill>
                  <a:srgbClr val="1B2733"/>
                </a:solidFill>
                <a:latin typeface="Calibri" pitchFamily="34" charset="0"/>
                <a:ea typeface="Calibri" pitchFamily="34" charset="-122"/>
                <a:cs typeface="Calibri" pitchFamily="34" charset="-120"/>
              </a:rPr>
              <a:t>Negatives place word text in the phoneme slot instead of re-derived phonemes. The fix is identified.</a:t>
            </a:r>
            <a:endParaRPr lang="en-US" sz="1350" dirty="0"/>
          </a:p>
        </p:txBody>
      </p:sp>
      <p:sp>
        <p:nvSpPr>
          <p:cNvPr id="19" name="Text 17"/>
          <p:cNvSpPr/>
          <p:nvPr/>
        </p:nvSpPr>
        <p:spPr>
          <a:xfrm>
            <a:off x="457200" y="6446520"/>
            <a:ext cx="8229600" cy="274320"/>
          </a:xfrm>
          <a:prstGeom prst="rect">
            <a:avLst/>
          </a:prstGeom>
          <a:noFill/>
          <a:ln/>
        </p:spPr>
        <p:txBody>
          <a:bodyPr wrap="square" rtlCol="0" anchor="ctr"/>
          <a:lstStyle/>
          <a:p>
            <a:pPr indent="0" marL="0">
              <a:buNone/>
            </a:pPr>
            <a:r>
              <a:rPr lang="en-US" sz="800" dirty="0">
                <a:solidFill>
                  <a:srgbClr val="5A6B78"/>
                </a:solidFill>
                <a:latin typeface="Calibri" pitchFamily="34" charset="0"/>
                <a:ea typeface="Calibri" pitchFamily="34" charset="-122"/>
                <a:cs typeface="Calibri" pitchFamily="34" charset="-120"/>
              </a:rPr>
              <a:t>P2T Decoder · Project update · 8 July 2026</a:t>
            </a:r>
            <a:endParaRPr lang="en-US" sz="800" dirty="0"/>
          </a:p>
        </p:txBody>
      </p:sp>
      <p:sp>
        <p:nvSpPr>
          <p:cNvPr id="20" name="Text 18"/>
          <p:cNvSpPr/>
          <p:nvPr/>
        </p:nvSpPr>
        <p:spPr>
          <a:xfrm>
            <a:off x="11338560" y="6446520"/>
            <a:ext cx="457200" cy="274320"/>
          </a:xfrm>
          <a:prstGeom prst="rect">
            <a:avLst/>
          </a:prstGeom>
          <a:noFill/>
          <a:ln/>
        </p:spPr>
        <p:txBody>
          <a:bodyPr wrap="square" rtlCol="0" anchor="ctr"/>
          <a:lstStyle/>
          <a:p>
            <a:pPr algn="r" indent="0" marL="0">
              <a:buNone/>
            </a:pPr>
            <a:r>
              <a:rPr lang="en-US" sz="800" dirty="0">
                <a:solidFill>
                  <a:srgbClr val="5A6B78"/>
                </a:solidFill>
                <a:latin typeface="Calibri" pitchFamily="34" charset="0"/>
                <a:ea typeface="Calibri" pitchFamily="34" charset="-122"/>
                <a:cs typeface="Calibri"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2E45"/>
        </a:solidFill>
      </p:bgPr>
    </p:bg>
    <p:spTree>
      <p:nvGrpSpPr>
        <p:cNvPr id="1" name=""/>
        <p:cNvGrpSpPr/>
        <p:nvPr/>
      </p:nvGrpSpPr>
      <p:grpSpPr>
        <a:xfrm>
          <a:off x="0" y="0"/>
          <a:ext cx="0" cy="0"/>
          <a:chOff x="0" y="0"/>
          <a:chExt cx="0" cy="0"/>
        </a:xfrm>
      </p:grpSpPr>
      <p:sp>
        <p:nvSpPr>
          <p:cNvPr id="2" name="Text 0"/>
          <p:cNvSpPr/>
          <p:nvPr/>
        </p:nvSpPr>
        <p:spPr>
          <a:xfrm>
            <a:off x="640080" y="640080"/>
            <a:ext cx="9144000" cy="365760"/>
          </a:xfrm>
          <a:prstGeom prst="rect">
            <a:avLst/>
          </a:prstGeom>
          <a:noFill/>
          <a:ln/>
        </p:spPr>
        <p:txBody>
          <a:bodyPr wrap="square" rtlCol="0" anchor="ctr"/>
          <a:lstStyle/>
          <a:p>
            <a:pPr indent="0" marL="0">
              <a:buNone/>
            </a:pPr>
            <a:r>
              <a:rPr lang="en-US" sz="1300" b="1" spc="300" kern="0" dirty="0">
                <a:solidFill>
                  <a:srgbClr val="9FC5D8"/>
                </a:solidFill>
                <a:latin typeface="Calibri" pitchFamily="34" charset="0"/>
                <a:ea typeface="Calibri" pitchFamily="34" charset="-122"/>
                <a:cs typeface="Calibri" pitchFamily="34" charset="-120"/>
              </a:rPr>
              <a:t>WHAT'S NEXT</a:t>
            </a:r>
            <a:endParaRPr lang="en-US" sz="1300" dirty="0"/>
          </a:p>
        </p:txBody>
      </p:sp>
      <p:sp>
        <p:nvSpPr>
          <p:cNvPr id="3" name="Text 1"/>
          <p:cNvSpPr/>
          <p:nvPr/>
        </p:nvSpPr>
        <p:spPr>
          <a:xfrm>
            <a:off x="640080" y="960120"/>
            <a:ext cx="10972800" cy="64008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Next steps</a:t>
            </a:r>
            <a:endParaRPr lang="en-US" sz="3200" dirty="0"/>
          </a:p>
        </p:txBody>
      </p:sp>
      <p:sp>
        <p:nvSpPr>
          <p:cNvPr id="4" name="Shape 2"/>
          <p:cNvSpPr/>
          <p:nvPr/>
        </p:nvSpPr>
        <p:spPr>
          <a:xfrm>
            <a:off x="640080" y="1920240"/>
            <a:ext cx="10881360" cy="914400"/>
          </a:xfrm>
          <a:prstGeom prst="roundRect">
            <a:avLst>
              <a:gd name="adj" fmla="val 6000"/>
            </a:avLst>
          </a:prstGeom>
          <a:solidFill>
            <a:srgbClr val="12405C"/>
          </a:solidFill>
          <a:ln/>
        </p:spPr>
      </p:sp>
      <p:sp>
        <p:nvSpPr>
          <p:cNvPr id="5" name="Shape 3"/>
          <p:cNvSpPr/>
          <p:nvPr/>
        </p:nvSpPr>
        <p:spPr>
          <a:xfrm>
            <a:off x="868680" y="2148840"/>
            <a:ext cx="457200" cy="457200"/>
          </a:xfrm>
          <a:prstGeom prst="ellipse">
            <a:avLst/>
          </a:prstGeom>
          <a:solidFill>
            <a:srgbClr val="2E8BA6"/>
          </a:solidFill>
          <a:ln/>
        </p:spPr>
      </p:sp>
      <p:sp>
        <p:nvSpPr>
          <p:cNvPr id="6" name="Text 4"/>
          <p:cNvSpPr/>
          <p:nvPr/>
        </p:nvSpPr>
        <p:spPr>
          <a:xfrm>
            <a:off x="868680" y="2148840"/>
            <a:ext cx="457200" cy="45720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p:nvPr/>
        </p:nvSpPr>
        <p:spPr>
          <a:xfrm>
            <a:off x="1554480" y="2029968"/>
            <a:ext cx="3291840" cy="6858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Held-out test set</a:t>
            </a:r>
            <a:endParaRPr lang="en-US" sz="1700" dirty="0"/>
          </a:p>
        </p:txBody>
      </p:sp>
      <p:sp>
        <p:nvSpPr>
          <p:cNvPr id="8" name="Text 6"/>
          <p:cNvSpPr/>
          <p:nvPr/>
        </p:nvSpPr>
        <p:spPr>
          <a:xfrm>
            <a:off x="4892040" y="2029968"/>
            <a:ext cx="6400800" cy="685800"/>
          </a:xfrm>
          <a:prstGeom prst="rect">
            <a:avLst/>
          </a:prstGeom>
          <a:noFill/>
          <a:ln/>
        </p:spPr>
        <p:txBody>
          <a:bodyPr wrap="square" rtlCol="0" anchor="ctr"/>
          <a:lstStyle/>
          <a:p>
            <a:pPr indent="0" marL="0">
              <a:buNone/>
            </a:pPr>
            <a:r>
              <a:rPr lang="en-US" sz="1300" dirty="0">
                <a:solidFill>
                  <a:srgbClr val="CFE3ED"/>
                </a:solidFill>
                <a:latin typeface="Calibri" pitchFamily="34" charset="0"/>
                <a:ea typeface="Calibri" pitchFamily="34" charset="-122"/>
                <a:cs typeface="Calibri" pitchFamily="34" charset="-120"/>
              </a:rPr>
              <a:t>Set aside a held-out test set for honest final numbers.</a:t>
            </a:r>
            <a:endParaRPr lang="en-US" sz="1300" dirty="0"/>
          </a:p>
        </p:txBody>
      </p:sp>
      <p:sp>
        <p:nvSpPr>
          <p:cNvPr id="9" name="Shape 7"/>
          <p:cNvSpPr/>
          <p:nvPr/>
        </p:nvSpPr>
        <p:spPr>
          <a:xfrm>
            <a:off x="640080" y="2971800"/>
            <a:ext cx="10881360" cy="914400"/>
          </a:xfrm>
          <a:prstGeom prst="roundRect">
            <a:avLst>
              <a:gd name="adj" fmla="val 6000"/>
            </a:avLst>
          </a:prstGeom>
          <a:solidFill>
            <a:srgbClr val="12405C"/>
          </a:solidFill>
          <a:ln/>
        </p:spPr>
      </p:sp>
      <p:sp>
        <p:nvSpPr>
          <p:cNvPr id="10" name="Shape 8"/>
          <p:cNvSpPr/>
          <p:nvPr/>
        </p:nvSpPr>
        <p:spPr>
          <a:xfrm>
            <a:off x="868680" y="3200400"/>
            <a:ext cx="457200" cy="457200"/>
          </a:xfrm>
          <a:prstGeom prst="ellipse">
            <a:avLst/>
          </a:prstGeom>
          <a:solidFill>
            <a:srgbClr val="2E8BA6"/>
          </a:solidFill>
          <a:ln/>
        </p:spPr>
      </p:sp>
      <p:sp>
        <p:nvSpPr>
          <p:cNvPr id="11" name="Text 9"/>
          <p:cNvSpPr/>
          <p:nvPr/>
        </p:nvSpPr>
        <p:spPr>
          <a:xfrm>
            <a:off x="868680" y="3200400"/>
            <a:ext cx="457200" cy="45720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10"/>
          <p:cNvSpPr/>
          <p:nvPr/>
        </p:nvSpPr>
        <p:spPr>
          <a:xfrm>
            <a:off x="1554480" y="3081528"/>
            <a:ext cx="3291840" cy="6858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Contrastive ablation</a:t>
            </a:r>
            <a:endParaRPr lang="en-US" sz="1700" dirty="0"/>
          </a:p>
        </p:txBody>
      </p:sp>
      <p:sp>
        <p:nvSpPr>
          <p:cNvPr id="13" name="Text 11"/>
          <p:cNvSpPr/>
          <p:nvPr/>
        </p:nvSpPr>
        <p:spPr>
          <a:xfrm>
            <a:off x="4892040" y="3081528"/>
            <a:ext cx="6400800" cy="685800"/>
          </a:xfrm>
          <a:prstGeom prst="rect">
            <a:avLst/>
          </a:prstGeom>
          <a:noFill/>
          <a:ln/>
        </p:spPr>
        <p:txBody>
          <a:bodyPr wrap="square" rtlCol="0" anchor="ctr"/>
          <a:lstStyle/>
          <a:p>
            <a:pPr indent="0" marL="0">
              <a:buNone/>
            </a:pPr>
            <a:r>
              <a:rPr lang="en-US" sz="1300" dirty="0">
                <a:solidFill>
                  <a:srgbClr val="CFE3ED"/>
                </a:solidFill>
                <a:latin typeface="Calibri" pitchFamily="34" charset="0"/>
                <a:ea typeface="Calibri" pitchFamily="34" charset="-122"/>
                <a:cs typeface="Calibri" pitchFamily="34" charset="-120"/>
              </a:rPr>
              <a:t>Run with and without the contrastive loss to isolate its effect on the homophone gap.</a:t>
            </a:r>
            <a:endParaRPr lang="en-US" sz="1300" dirty="0"/>
          </a:p>
        </p:txBody>
      </p:sp>
      <p:sp>
        <p:nvSpPr>
          <p:cNvPr id="14" name="Shape 12"/>
          <p:cNvSpPr/>
          <p:nvPr/>
        </p:nvSpPr>
        <p:spPr>
          <a:xfrm>
            <a:off x="640080" y="4023360"/>
            <a:ext cx="10881360" cy="914400"/>
          </a:xfrm>
          <a:prstGeom prst="roundRect">
            <a:avLst>
              <a:gd name="adj" fmla="val 6000"/>
            </a:avLst>
          </a:prstGeom>
          <a:solidFill>
            <a:srgbClr val="12405C"/>
          </a:solidFill>
          <a:ln/>
        </p:spPr>
      </p:sp>
      <p:sp>
        <p:nvSpPr>
          <p:cNvPr id="15" name="Shape 13"/>
          <p:cNvSpPr/>
          <p:nvPr/>
        </p:nvSpPr>
        <p:spPr>
          <a:xfrm>
            <a:off x="868680" y="4251960"/>
            <a:ext cx="457200" cy="457200"/>
          </a:xfrm>
          <a:prstGeom prst="ellipse">
            <a:avLst/>
          </a:prstGeom>
          <a:solidFill>
            <a:srgbClr val="2E8BA6"/>
          </a:solidFill>
          <a:ln/>
        </p:spPr>
      </p:sp>
      <p:sp>
        <p:nvSpPr>
          <p:cNvPr id="16" name="Text 14"/>
          <p:cNvSpPr/>
          <p:nvPr/>
        </p:nvSpPr>
        <p:spPr>
          <a:xfrm>
            <a:off x="868680" y="4251960"/>
            <a:ext cx="457200" cy="45720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7" name="Text 15"/>
          <p:cNvSpPr/>
          <p:nvPr/>
        </p:nvSpPr>
        <p:spPr>
          <a:xfrm>
            <a:off x="1554480" y="4133088"/>
            <a:ext cx="3291840" cy="6858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Fix hard negatives</a:t>
            </a:r>
            <a:endParaRPr lang="en-US" sz="1700" dirty="0"/>
          </a:p>
        </p:txBody>
      </p:sp>
      <p:sp>
        <p:nvSpPr>
          <p:cNvPr id="18" name="Text 16"/>
          <p:cNvSpPr/>
          <p:nvPr/>
        </p:nvSpPr>
        <p:spPr>
          <a:xfrm>
            <a:off x="4892040" y="4133088"/>
            <a:ext cx="6400800" cy="685800"/>
          </a:xfrm>
          <a:prstGeom prst="rect">
            <a:avLst/>
          </a:prstGeom>
          <a:noFill/>
          <a:ln/>
        </p:spPr>
        <p:txBody>
          <a:bodyPr wrap="square" rtlCol="0" anchor="ctr"/>
          <a:lstStyle/>
          <a:p>
            <a:pPr indent="0" marL="0">
              <a:buNone/>
            </a:pPr>
            <a:r>
              <a:rPr lang="en-US" sz="1300" dirty="0">
                <a:solidFill>
                  <a:srgbClr val="CFE3ED"/>
                </a:solidFill>
                <a:latin typeface="Calibri" pitchFamily="34" charset="0"/>
                <a:ea typeface="Calibri" pitchFamily="34" charset="-122"/>
                <a:cs typeface="Calibri" pitchFamily="34" charset="-120"/>
              </a:rPr>
              <a:t>Re-derive phonemes for substituted words, then retrain.</a:t>
            </a:r>
            <a:endParaRPr lang="en-US" sz="1300" dirty="0"/>
          </a:p>
        </p:txBody>
      </p:sp>
      <p:sp>
        <p:nvSpPr>
          <p:cNvPr id="19" name="Shape 17"/>
          <p:cNvSpPr/>
          <p:nvPr/>
        </p:nvSpPr>
        <p:spPr>
          <a:xfrm>
            <a:off x="640080" y="5074920"/>
            <a:ext cx="10881360" cy="914400"/>
          </a:xfrm>
          <a:prstGeom prst="roundRect">
            <a:avLst>
              <a:gd name="adj" fmla="val 6000"/>
            </a:avLst>
          </a:prstGeom>
          <a:solidFill>
            <a:srgbClr val="12405C"/>
          </a:solidFill>
          <a:ln/>
        </p:spPr>
      </p:sp>
      <p:sp>
        <p:nvSpPr>
          <p:cNvPr id="20" name="Shape 18"/>
          <p:cNvSpPr/>
          <p:nvPr/>
        </p:nvSpPr>
        <p:spPr>
          <a:xfrm>
            <a:off x="868680" y="5303520"/>
            <a:ext cx="457200" cy="457200"/>
          </a:xfrm>
          <a:prstGeom prst="ellipse">
            <a:avLst/>
          </a:prstGeom>
          <a:solidFill>
            <a:srgbClr val="2E8BA6"/>
          </a:solidFill>
          <a:ln/>
        </p:spPr>
      </p:sp>
      <p:sp>
        <p:nvSpPr>
          <p:cNvPr id="21" name="Text 19"/>
          <p:cNvSpPr/>
          <p:nvPr/>
        </p:nvSpPr>
        <p:spPr>
          <a:xfrm>
            <a:off x="868680" y="5303520"/>
            <a:ext cx="457200" cy="45720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2" name="Text 20"/>
          <p:cNvSpPr/>
          <p:nvPr/>
        </p:nvSpPr>
        <p:spPr>
          <a:xfrm>
            <a:off x="1554480" y="5184648"/>
            <a:ext cx="3291840" cy="6858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Scale the run</a:t>
            </a:r>
            <a:endParaRPr lang="en-US" sz="1700" dirty="0"/>
          </a:p>
        </p:txBody>
      </p:sp>
      <p:sp>
        <p:nvSpPr>
          <p:cNvPr id="23" name="Text 21"/>
          <p:cNvSpPr/>
          <p:nvPr/>
        </p:nvSpPr>
        <p:spPr>
          <a:xfrm>
            <a:off x="4892040" y="5184648"/>
            <a:ext cx="6400800" cy="685800"/>
          </a:xfrm>
          <a:prstGeom prst="rect">
            <a:avLst/>
          </a:prstGeom>
          <a:noFill/>
          <a:ln/>
        </p:spPr>
        <p:txBody>
          <a:bodyPr wrap="square" rtlCol="0" anchor="ctr"/>
          <a:lstStyle/>
          <a:p>
            <a:pPr indent="0" marL="0">
              <a:buNone/>
            </a:pPr>
            <a:r>
              <a:rPr lang="en-US" sz="1300" dirty="0">
                <a:solidFill>
                  <a:srgbClr val="CFE3ED"/>
                </a:solidFill>
                <a:latin typeface="Calibri" pitchFamily="34" charset="0"/>
                <a:ea typeface="Calibri" pitchFamily="34" charset="-122"/>
                <a:cs typeface="Calibri" pitchFamily="34" charset="-120"/>
              </a:rPr>
              <a:t>Try a larger LoRA rank (r=48) and a longer schedule now the pipeline is stable.</a:t>
            </a:r>
            <a:endParaRPr lang="en-US" sz="1300" dirty="0"/>
          </a:p>
        </p:txBody>
      </p:sp>
      <p:sp>
        <p:nvSpPr>
          <p:cNvPr id="24" name="Text 22"/>
          <p:cNvSpPr/>
          <p:nvPr/>
        </p:nvSpPr>
        <p:spPr>
          <a:xfrm>
            <a:off x="640080" y="6309360"/>
            <a:ext cx="10972800" cy="365760"/>
          </a:xfrm>
          <a:prstGeom prst="rect">
            <a:avLst/>
          </a:prstGeom>
          <a:noFill/>
          <a:ln/>
        </p:spPr>
        <p:txBody>
          <a:bodyPr wrap="square" rtlCol="0" anchor="ctr"/>
          <a:lstStyle/>
          <a:p>
            <a:pPr indent="0" marL="0">
              <a:buNone/>
            </a:pPr>
            <a:r>
              <a:rPr lang="en-US" sz="1300" i="1" dirty="0">
                <a:solidFill>
                  <a:srgbClr val="9FC5D8"/>
                </a:solidFill>
                <a:latin typeface="Calibri" pitchFamily="34" charset="0"/>
                <a:ea typeface="Calibri" pitchFamily="34" charset="-122"/>
                <a:cs typeface="Calibri" pitchFamily="34" charset="-120"/>
              </a:rPr>
              <a:t>Open question for discussion: which comes first, the held-out test set or the contrastive ablation?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P2T Decoder: Project Update</dc:title>
  <dc:subject>PptxGenJS Presentation</dc:subject>
  <dc:creator>Project team</dc:creator>
  <cp:lastModifiedBy>Project team</cp:lastModifiedBy>
  <cp:revision>1</cp:revision>
  <dcterms:created xsi:type="dcterms:W3CDTF">2026-07-08T11:45:36Z</dcterms:created>
  <dcterms:modified xsi:type="dcterms:W3CDTF">2026-07-08T11:45:36Z</dcterms:modified>
</cp:coreProperties>
</file>